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1414"/>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DB954"/>
          </a:solidFill>
          <a:ln w="12700">
            <a:solidFill>
              <a:srgbClr val="1DB954"/>
            </a:solidFill>
            <a:prstDash val="solid"/>
          </a:ln>
        </p:spPr>
      </p:sp>
      <p:sp>
        <p:nvSpPr>
          <p:cNvPr id="3" name="Text 1"/>
          <p:cNvSpPr/>
          <p:nvPr/>
        </p:nvSpPr>
        <p:spPr>
          <a:xfrm>
            <a:off x="640080" y="1554480"/>
            <a:ext cx="786384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Predicting Song Popularity</a:t>
            </a:r>
            <a:endParaRPr lang="en-US" sz="4000" dirty="0"/>
          </a:p>
        </p:txBody>
      </p:sp>
      <p:sp>
        <p:nvSpPr>
          <p:cNvPr id="4" name="Text 2"/>
          <p:cNvSpPr/>
          <p:nvPr/>
        </p:nvSpPr>
        <p:spPr>
          <a:xfrm>
            <a:off x="640080" y="2331720"/>
            <a:ext cx="7863840" cy="457200"/>
          </a:xfrm>
          <a:prstGeom prst="rect">
            <a:avLst/>
          </a:prstGeom>
          <a:noFill/>
          <a:ln/>
        </p:spPr>
        <p:txBody>
          <a:bodyPr wrap="square" lIns="0" tIns="0" rIns="0" bIns="0" rtlCol="0" anchor="ctr"/>
          <a:lstStyle/>
          <a:p>
            <a:pPr indent="0" marL="0">
              <a:buNone/>
            </a:pPr>
            <a:r>
              <a:rPr lang="en-US" sz="1800" i="1" dirty="0">
                <a:solidFill>
                  <a:srgbClr val="CCCCCC"/>
                </a:solidFill>
                <a:latin typeface="Calibri" pitchFamily="34" charset="0"/>
                <a:ea typeface="Calibri" pitchFamily="34" charset="-122"/>
                <a:cs typeface="Calibri" pitchFamily="34" charset="-120"/>
              </a:rPr>
              <a:t>Can audio features tell us if a song will be popular?</a:t>
            </a:r>
            <a:endParaRPr lang="en-US" sz="1800" dirty="0"/>
          </a:p>
        </p:txBody>
      </p:sp>
      <p:sp>
        <p:nvSpPr>
          <p:cNvPr id="5" name="Shape 3"/>
          <p:cNvSpPr/>
          <p:nvPr/>
        </p:nvSpPr>
        <p:spPr>
          <a:xfrm>
            <a:off x="640080" y="3200400"/>
            <a:ext cx="1371600" cy="0"/>
          </a:xfrm>
          <a:prstGeom prst="line">
            <a:avLst/>
          </a:prstGeom>
          <a:noFill/>
          <a:ln w="25400">
            <a:solidFill>
              <a:srgbClr val="1DB954"/>
            </a:solidFill>
            <a:prstDash val="solid"/>
          </a:ln>
        </p:spPr>
      </p:sp>
      <p:sp>
        <p:nvSpPr>
          <p:cNvPr id="6" name="Text 4"/>
          <p:cNvSpPr/>
          <p:nvPr/>
        </p:nvSpPr>
        <p:spPr>
          <a:xfrm>
            <a:off x="640080" y="3383280"/>
            <a:ext cx="7863840" cy="365760"/>
          </a:xfrm>
          <a:prstGeom prst="rect">
            <a:avLst/>
          </a:prstGeom>
          <a:noFill/>
          <a:ln/>
        </p:spPr>
        <p:txBody>
          <a:bodyPr wrap="square" lIns="0" tIns="0" rIns="0" bIns="0" rtlCol="0" anchor="ctr"/>
          <a:lstStyle/>
          <a:p>
            <a:pPr indent="0" marL="0">
              <a:buNone/>
            </a:pPr>
            <a:r>
              <a:rPr lang="en-US" sz="1400" dirty="0">
                <a:solidFill>
                  <a:srgbClr val="AAAAAA"/>
                </a:solidFill>
                <a:latin typeface="Calibri" pitchFamily="34" charset="0"/>
                <a:ea typeface="Calibri" pitchFamily="34" charset="-122"/>
                <a:cs typeface="Calibri" pitchFamily="34" charset="-120"/>
              </a:rPr>
              <a:t>ITAI 1371   |   Final Project Pitch Day</a:t>
            </a:r>
            <a:endParaRPr lang="en-US" sz="1400" dirty="0"/>
          </a:p>
        </p:txBody>
      </p:sp>
      <p:sp>
        <p:nvSpPr>
          <p:cNvPr id="7" name="Text 5"/>
          <p:cNvSpPr/>
          <p:nvPr/>
        </p:nvSpPr>
        <p:spPr>
          <a:xfrm>
            <a:off x="640080" y="3794760"/>
            <a:ext cx="786384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Trilok</a:t>
            </a:r>
            <a:endParaRPr lang="en-US" sz="2200" dirty="0"/>
          </a:p>
        </p:txBody>
      </p:sp>
      <p:sp>
        <p:nvSpPr>
          <p:cNvPr id="8" name="Text 6"/>
          <p:cNvSpPr/>
          <p:nvPr/>
        </p:nvSpPr>
        <p:spPr>
          <a:xfrm>
            <a:off x="640080" y="4297680"/>
            <a:ext cx="7863840" cy="365760"/>
          </a:xfrm>
          <a:prstGeom prst="rect">
            <a:avLst/>
          </a:prstGeom>
          <a:noFill/>
          <a:ln/>
        </p:spPr>
        <p:txBody>
          <a:bodyPr wrap="square" lIns="0" tIns="0" rIns="0" bIns="0" rtlCol="0" anchor="ctr"/>
          <a:lstStyle/>
          <a:p>
            <a:pPr indent="0" marL="0">
              <a:buNone/>
            </a:pPr>
            <a:r>
              <a:rPr lang="en-US" sz="1200" dirty="0">
                <a:solidFill>
                  <a:srgbClr val="888888"/>
                </a:solidFill>
                <a:latin typeface="Calibri" pitchFamily="34" charset="0"/>
                <a:ea typeface="Calibri" pitchFamily="34" charset="-122"/>
                <a:cs typeface="Calibri" pitchFamily="34" charset="-120"/>
              </a:rPr>
              <a:t>Houston Community College   |   May 5,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91414"/>
                </a:solidFill>
                <a:latin typeface="Calibri" pitchFamily="34" charset="0"/>
                <a:ea typeface="Calibri" pitchFamily="34" charset="-122"/>
                <a:cs typeface="Calibri" pitchFamily="34" charset="-120"/>
              </a:rPr>
              <a:t>Why I picked this</a:t>
            </a:r>
            <a:endParaRPr lang="en-US" sz="3200" dirty="0"/>
          </a:p>
        </p:txBody>
      </p:sp>
      <p:sp>
        <p:nvSpPr>
          <p:cNvPr id="3" name="Text 1"/>
          <p:cNvSpPr/>
          <p:nvPr/>
        </p:nvSpPr>
        <p:spPr>
          <a:xfrm>
            <a:off x="457200" y="1188720"/>
            <a:ext cx="5120640" cy="3657600"/>
          </a:xfrm>
          <a:prstGeom prst="rect">
            <a:avLst/>
          </a:prstGeom>
          <a:noFill/>
          <a:ln/>
        </p:spPr>
        <p:txBody>
          <a:bodyPr wrap="square" rtlCol="0" anchor="t"/>
          <a:lstStyle/>
          <a:p>
            <a:pPr marL="342900" indent="-342900">
              <a:spcAft>
                <a:spcPts val="800"/>
              </a:spcAft>
              <a:buSzPct val="100000"/>
              <a:buChar char="•"/>
            </a:pPr>
            <a:r>
              <a:rPr lang="en-US" sz="1400" dirty="0">
                <a:solidFill>
                  <a:srgbClr val="2A2A2A"/>
                </a:solidFill>
                <a:latin typeface="Calibri" pitchFamily="34" charset="0"/>
                <a:ea typeface="Calibri" pitchFamily="34" charset="-122"/>
                <a:cs typeface="Calibri" pitchFamily="34" charset="-120"/>
              </a:rPr>
              <a:t>I listen to a lot of music. Wanted to know if a song’s audio actually predicts how popular it gets, or if popularity is mostly about everything except the sound.</a:t>
            </a:r>
            <a:endParaRPr lang="en-US" sz="1400" dirty="0"/>
          </a:p>
          <a:p>
            <a:pPr marL="342900" indent="-342900">
              <a:spcAft>
                <a:spcPts val="800"/>
              </a:spcAft>
              <a:buSzPct val="100000"/>
              <a:buChar char="•"/>
            </a:pPr>
            <a:r>
              <a:rPr lang="en-US" sz="1400" dirty="0">
                <a:solidFill>
                  <a:srgbClr val="2A2A2A"/>
                </a:solidFill>
                <a:latin typeface="Calibri" pitchFamily="34" charset="0"/>
                <a:ea typeface="Calibri" pitchFamily="34" charset="-122"/>
                <a:cs typeface="Calibri" pitchFamily="34" charset="-120"/>
              </a:rPr>
              <a:t>Spotify, Apple Music, and TikTok all use audio-feature models for recommendations. So this is a real industry question, not just an academic one.</a:t>
            </a:r>
            <a:endParaRPr lang="en-US" sz="1400" dirty="0"/>
          </a:p>
          <a:p>
            <a:pPr marL="342900" indent="-342900">
              <a:spcAft>
                <a:spcPts val="800"/>
              </a:spcAft>
              <a:buSzPct val="100000"/>
              <a:buChar char="•"/>
            </a:pPr>
            <a:r>
              <a:rPr lang="en-US" sz="1400" dirty="0">
                <a:solidFill>
                  <a:srgbClr val="2A2A2A"/>
                </a:solidFill>
                <a:latin typeface="Calibri" pitchFamily="34" charset="0"/>
                <a:ea typeface="Calibri" pitchFamily="34" charset="-122"/>
                <a:cs typeface="Calibri" pitchFamily="34" charset="-120"/>
              </a:rPr>
              <a:t>Practical angle: a label deciding whether to push a release, or an artist trying to figure out if a track has commercial potential.</a:t>
            </a:r>
            <a:endParaRPr lang="en-US" sz="1400" dirty="0"/>
          </a:p>
          <a:p>
            <a:pPr marL="342900" indent="-3429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Personally curious about where ML works on cultural data and where it hits a ceiling. Music seemed like a clean test case.</a:t>
            </a:r>
            <a:endParaRPr lang="en-US" sz="1400" dirty="0"/>
          </a:p>
        </p:txBody>
      </p:sp>
      <p:sp>
        <p:nvSpPr>
          <p:cNvPr id="4" name="Shape 2"/>
          <p:cNvSpPr/>
          <p:nvPr/>
        </p:nvSpPr>
        <p:spPr>
          <a:xfrm>
            <a:off x="5943600" y="1371600"/>
            <a:ext cx="2743200" cy="3200400"/>
          </a:xfrm>
          <a:prstGeom prst="rect">
            <a:avLst/>
          </a:prstGeom>
          <a:solidFill>
            <a:srgbClr val="FAFAFA"/>
          </a:solidFill>
          <a:ln w="12700">
            <a:solidFill>
              <a:srgbClr val="E5E7EB"/>
            </a:solidFill>
            <a:prstDash val="solid"/>
          </a:ln>
        </p:spPr>
      </p:sp>
      <p:sp>
        <p:nvSpPr>
          <p:cNvPr id="5" name="Text 3"/>
          <p:cNvSpPr/>
          <p:nvPr/>
        </p:nvSpPr>
        <p:spPr>
          <a:xfrm>
            <a:off x="5943600" y="1645920"/>
            <a:ext cx="2743200" cy="1097280"/>
          </a:xfrm>
          <a:prstGeom prst="rect">
            <a:avLst/>
          </a:prstGeom>
          <a:noFill/>
          <a:ln/>
        </p:spPr>
        <p:txBody>
          <a:bodyPr wrap="square" lIns="0" tIns="0" rIns="0" bIns="0" rtlCol="0" anchor="ctr"/>
          <a:lstStyle/>
          <a:p>
            <a:pPr algn="ctr" indent="0" marL="0">
              <a:buNone/>
            </a:pPr>
            <a:r>
              <a:rPr lang="en-US" sz="6400" b="1" dirty="0">
                <a:solidFill>
                  <a:srgbClr val="1DB954"/>
                </a:solidFill>
                <a:latin typeface="Calibri" pitchFamily="34" charset="0"/>
                <a:ea typeface="Calibri" pitchFamily="34" charset="-122"/>
                <a:cs typeface="Calibri" pitchFamily="34" charset="-120"/>
              </a:rPr>
              <a:t>114K</a:t>
            </a:r>
            <a:endParaRPr lang="en-US" sz="6400" dirty="0"/>
          </a:p>
        </p:txBody>
      </p:sp>
      <p:sp>
        <p:nvSpPr>
          <p:cNvPr id="6" name="Text 4"/>
          <p:cNvSpPr/>
          <p:nvPr/>
        </p:nvSpPr>
        <p:spPr>
          <a:xfrm>
            <a:off x="5943600" y="2743200"/>
            <a:ext cx="2743200" cy="365760"/>
          </a:xfrm>
          <a:prstGeom prst="rect">
            <a:avLst/>
          </a:prstGeom>
          <a:noFill/>
          <a:ln/>
        </p:spPr>
        <p:txBody>
          <a:bodyPr wrap="square" lIns="0" tIns="0" rIns="0" bIns="0" rtlCol="0" anchor="ctr"/>
          <a:lstStyle/>
          <a:p>
            <a:pPr algn="ctr" indent="0" marL="0">
              <a:buNone/>
            </a:pPr>
            <a:r>
              <a:rPr lang="en-US" sz="1400" dirty="0">
                <a:solidFill>
                  <a:srgbClr val="2A2A2A"/>
                </a:solidFill>
                <a:latin typeface="Calibri" pitchFamily="34" charset="0"/>
                <a:ea typeface="Calibri" pitchFamily="34" charset="-122"/>
                <a:cs typeface="Calibri" pitchFamily="34" charset="-120"/>
              </a:rPr>
              <a:t>songs analyzed</a:t>
            </a:r>
            <a:endParaRPr lang="en-US" sz="1400" dirty="0"/>
          </a:p>
        </p:txBody>
      </p:sp>
      <p:sp>
        <p:nvSpPr>
          <p:cNvPr id="7" name="Text 5"/>
          <p:cNvSpPr/>
          <p:nvPr/>
        </p:nvSpPr>
        <p:spPr>
          <a:xfrm>
            <a:off x="5943600" y="3108960"/>
            <a:ext cx="2743200" cy="365760"/>
          </a:xfrm>
          <a:prstGeom prst="rect">
            <a:avLst/>
          </a:prstGeom>
          <a:noFill/>
          <a:ln/>
        </p:spPr>
        <p:txBody>
          <a:bodyPr wrap="square" lIns="0" tIns="0" rIns="0" bIns="0" rtlCol="0" anchor="ctr"/>
          <a:lstStyle/>
          <a:p>
            <a:pPr algn="ctr" indent="0" marL="0">
              <a:buNone/>
            </a:pPr>
            <a:r>
              <a:rPr lang="en-US" sz="1400" dirty="0">
                <a:solidFill>
                  <a:srgbClr val="2A2A2A"/>
                </a:solidFill>
                <a:latin typeface="Calibri" pitchFamily="34" charset="0"/>
                <a:ea typeface="Calibri" pitchFamily="34" charset="-122"/>
                <a:cs typeface="Calibri" pitchFamily="34" charset="-120"/>
              </a:rPr>
              <a:t>across 113 genres</a:t>
            </a:r>
            <a:endParaRPr lang="en-US" sz="1400" dirty="0"/>
          </a:p>
        </p:txBody>
      </p:sp>
      <p:sp>
        <p:nvSpPr>
          <p:cNvPr id="8" name="Shape 6"/>
          <p:cNvSpPr/>
          <p:nvPr/>
        </p:nvSpPr>
        <p:spPr>
          <a:xfrm>
            <a:off x="6766560" y="3657600"/>
            <a:ext cx="1097280" cy="0"/>
          </a:xfrm>
          <a:prstGeom prst="line">
            <a:avLst/>
          </a:prstGeom>
          <a:noFill/>
          <a:ln w="25400">
            <a:solidFill>
              <a:srgbClr val="1DB954"/>
            </a:solidFill>
            <a:prstDash val="solid"/>
          </a:ln>
        </p:spPr>
      </p:sp>
      <p:sp>
        <p:nvSpPr>
          <p:cNvPr id="9" name="Text 7"/>
          <p:cNvSpPr/>
          <p:nvPr/>
        </p:nvSpPr>
        <p:spPr>
          <a:xfrm>
            <a:off x="5943600" y="3794760"/>
            <a:ext cx="2743200" cy="36576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public Kaggle dataset</a:t>
            </a:r>
            <a:endParaRPr lang="en-US" sz="1100" dirty="0"/>
          </a:p>
        </p:txBody>
      </p:sp>
      <p:sp>
        <p:nvSpPr>
          <p:cNvPr id="10" name="Text 8"/>
          <p:cNvSpPr/>
          <p:nvPr/>
        </p:nvSpPr>
        <p:spPr>
          <a:xfrm>
            <a:off x="5943600" y="4069080"/>
            <a:ext cx="2743200" cy="36576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from Spotify Web API</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91414"/>
                </a:solidFill>
                <a:latin typeface="Calibri" pitchFamily="34" charset="0"/>
                <a:ea typeface="Calibri" pitchFamily="34" charset="-122"/>
                <a:cs typeface="Calibri" pitchFamily="34" charset="-120"/>
              </a:rPr>
              <a:t>What I’m trying to figure out</a:t>
            </a:r>
            <a:endParaRPr lang="en-US" sz="3200" dirty="0"/>
          </a:p>
        </p:txBody>
      </p:sp>
      <p:sp>
        <p:nvSpPr>
          <p:cNvPr id="3" name="Text 1"/>
          <p:cNvSpPr/>
          <p:nvPr/>
        </p:nvSpPr>
        <p:spPr>
          <a:xfrm>
            <a:off x="457200" y="1143000"/>
            <a:ext cx="5029200" cy="1005840"/>
          </a:xfrm>
          <a:prstGeom prst="rect">
            <a:avLst/>
          </a:prstGeom>
          <a:noFill/>
          <a:ln/>
        </p:spPr>
        <p:txBody>
          <a:bodyPr wrap="square" lIns="0" tIns="0" rIns="0" bIns="0" rtlCol="0" anchor="t"/>
          <a:lstStyle/>
          <a:p>
            <a:pPr indent="0" marL="0">
              <a:buNone/>
            </a:pPr>
            <a:r>
              <a:rPr lang="en-US" sz="1400" dirty="0">
                <a:solidFill>
                  <a:srgbClr val="2A2A2A"/>
                </a:solidFill>
                <a:latin typeface="Calibri" pitchFamily="34" charset="0"/>
                <a:ea typeface="Calibri" pitchFamily="34" charset="-122"/>
                <a:cs typeface="Calibri" pitchFamily="34" charset="-120"/>
              </a:rPr>
              <a:t>The core task: predict a Spotify track’s popularity score (0-100) using only its audio features (danceability, energy, loudness, valence, etc.).</a:t>
            </a:r>
            <a:endParaRPr lang="en-US" sz="1400" dirty="0"/>
          </a:p>
        </p:txBody>
      </p:sp>
      <p:sp>
        <p:nvSpPr>
          <p:cNvPr id="4" name="Shape 2"/>
          <p:cNvSpPr/>
          <p:nvPr/>
        </p:nvSpPr>
        <p:spPr>
          <a:xfrm>
            <a:off x="457200" y="2240280"/>
            <a:ext cx="5029200" cy="731520"/>
          </a:xfrm>
          <a:prstGeom prst="rect">
            <a:avLst/>
          </a:prstGeom>
          <a:solidFill>
            <a:srgbClr val="FAFAFA"/>
          </a:solidFill>
          <a:ln w="12700">
            <a:solidFill>
              <a:srgbClr val="1DB954"/>
            </a:solidFill>
            <a:prstDash val="solid"/>
          </a:ln>
        </p:spPr>
      </p:sp>
      <p:sp>
        <p:nvSpPr>
          <p:cNvPr id="5" name="Text 3"/>
          <p:cNvSpPr/>
          <p:nvPr/>
        </p:nvSpPr>
        <p:spPr>
          <a:xfrm>
            <a:off x="640080" y="2286000"/>
            <a:ext cx="4754880" cy="640080"/>
          </a:xfrm>
          <a:prstGeom prst="rect">
            <a:avLst/>
          </a:prstGeom>
          <a:noFill/>
          <a:ln/>
        </p:spPr>
        <p:txBody>
          <a:bodyPr wrap="square" lIns="0" tIns="0" rIns="0" bIns="0" rtlCol="0" anchor="ctr"/>
          <a:lstStyle/>
          <a:p>
            <a:pPr indent="0" marL="0">
              <a:buNone/>
            </a:pPr>
            <a:r>
              <a:rPr lang="en-US" sz="1300" b="1" dirty="0">
                <a:solidFill>
                  <a:srgbClr val="1DB954"/>
                </a:solidFill>
                <a:latin typeface="Calibri" pitchFamily="34" charset="0"/>
                <a:ea typeface="Calibri" pitchFamily="34" charset="-122"/>
                <a:cs typeface="Calibri" pitchFamily="34" charset="-120"/>
              </a:rPr>
              <a:t>Regression  </a:t>
            </a:r>
            <a:pPr indent="0" marL="0">
              <a:buNone/>
            </a:pPr>
            <a:r>
              <a:rPr lang="en-US" sz="1300" dirty="0">
                <a:solidFill>
                  <a:srgbClr val="2A2A2A"/>
                </a:solidFill>
                <a:latin typeface="Calibri" pitchFamily="34" charset="0"/>
                <a:ea typeface="Calibri" pitchFamily="34" charset="-122"/>
                <a:cs typeface="Calibri" pitchFamily="34" charset="-120"/>
              </a:rPr>
              <a:t>predict the exact 0-100 score. Hard but more useful.</a:t>
            </a:r>
            <a:endParaRPr lang="en-US" sz="1300" dirty="0"/>
          </a:p>
        </p:txBody>
      </p:sp>
      <p:sp>
        <p:nvSpPr>
          <p:cNvPr id="6" name="Shape 4"/>
          <p:cNvSpPr/>
          <p:nvPr/>
        </p:nvSpPr>
        <p:spPr>
          <a:xfrm>
            <a:off x="457200" y="3108960"/>
            <a:ext cx="5029200" cy="731520"/>
          </a:xfrm>
          <a:prstGeom prst="rect">
            <a:avLst/>
          </a:prstGeom>
          <a:solidFill>
            <a:srgbClr val="FAFAFA"/>
          </a:solidFill>
          <a:ln w="12700">
            <a:solidFill>
              <a:srgbClr val="1DB954"/>
            </a:solidFill>
            <a:prstDash val="solid"/>
          </a:ln>
        </p:spPr>
      </p:sp>
      <p:sp>
        <p:nvSpPr>
          <p:cNvPr id="7" name="Text 5"/>
          <p:cNvSpPr/>
          <p:nvPr/>
        </p:nvSpPr>
        <p:spPr>
          <a:xfrm>
            <a:off x="640080" y="3154680"/>
            <a:ext cx="4754880" cy="640080"/>
          </a:xfrm>
          <a:prstGeom prst="rect">
            <a:avLst/>
          </a:prstGeom>
          <a:noFill/>
          <a:ln/>
        </p:spPr>
        <p:txBody>
          <a:bodyPr wrap="square" lIns="0" tIns="0" rIns="0" bIns="0" rtlCol="0" anchor="ctr"/>
          <a:lstStyle/>
          <a:p>
            <a:pPr indent="0" marL="0">
              <a:buNone/>
            </a:pPr>
            <a:r>
              <a:rPr lang="en-US" sz="1300" b="1" dirty="0">
                <a:solidFill>
                  <a:srgbClr val="1DB954"/>
                </a:solidFill>
                <a:latin typeface="Calibri" pitchFamily="34" charset="0"/>
                <a:ea typeface="Calibri" pitchFamily="34" charset="-122"/>
                <a:cs typeface="Calibri" pitchFamily="34" charset="-120"/>
              </a:rPr>
              <a:t>Classification  </a:t>
            </a:r>
            <a:pPr indent="0" marL="0">
              <a:buNone/>
            </a:pPr>
            <a:r>
              <a:rPr lang="en-US" sz="1300" dirty="0">
                <a:solidFill>
                  <a:srgbClr val="2A2A2A"/>
                </a:solidFill>
                <a:latin typeface="Calibri" pitchFamily="34" charset="0"/>
                <a:ea typeface="Calibri" pitchFamily="34" charset="-122"/>
                <a:cs typeface="Calibri" pitchFamily="34" charset="-120"/>
              </a:rPr>
              <a:t>sort songs into Low / Medium / High tiers. Easier, more practical.</a:t>
            </a:r>
            <a:endParaRPr lang="en-US" sz="1300" dirty="0"/>
          </a:p>
        </p:txBody>
      </p:sp>
      <p:sp>
        <p:nvSpPr>
          <p:cNvPr id="8" name="Text 6"/>
          <p:cNvSpPr/>
          <p:nvPr/>
        </p:nvSpPr>
        <p:spPr>
          <a:xfrm>
            <a:off x="457200" y="4023360"/>
            <a:ext cx="5029200" cy="27432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Side questions:</a:t>
            </a:r>
            <a:endParaRPr lang="en-US" sz="1200" dirty="0"/>
          </a:p>
        </p:txBody>
      </p:sp>
      <p:sp>
        <p:nvSpPr>
          <p:cNvPr id="9" name="Text 7"/>
          <p:cNvSpPr/>
          <p:nvPr/>
        </p:nvSpPr>
        <p:spPr>
          <a:xfrm>
            <a:off x="457200" y="4297680"/>
            <a:ext cx="5029200" cy="822960"/>
          </a:xfrm>
          <a:prstGeom prst="rect">
            <a:avLst/>
          </a:prstGeom>
          <a:noFill/>
          <a:ln/>
        </p:spPr>
        <p:txBody>
          <a:bodyPr wrap="square" lIns="0" tIns="0" rIns="0" bIns="0" rtlCol="0" anchor="ctr"/>
          <a:lstStyle/>
          <a:p>
            <a:pPr marL="342900" indent="-342900">
              <a:buSzPct val="100000"/>
              <a:buChar char="•"/>
            </a:pPr>
            <a:r>
              <a:rPr lang="en-US" sz="1100" dirty="0">
                <a:solidFill>
                  <a:srgbClr val="2A2A2A"/>
                </a:solidFill>
                <a:latin typeface="Calibri" pitchFamily="34" charset="0"/>
                <a:ea typeface="Calibri" pitchFamily="34" charset="-122"/>
                <a:cs typeface="Calibri" pitchFamily="34" charset="-120"/>
              </a:rPr>
              <a:t>How much does adding genre help on top of audio?</a:t>
            </a:r>
            <a:endParaRPr lang="en-US" sz="1100" dirty="0"/>
          </a:p>
          <a:p>
            <a:pPr marL="342900" indent="-342900">
              <a:buSzPct val="100000"/>
              <a:buChar char="•"/>
            </a:pPr>
            <a:r>
              <a:rPr lang="en-US" sz="1100" dirty="0">
                <a:solidFill>
                  <a:srgbClr val="2A2A2A"/>
                </a:solidFill>
                <a:latin typeface="Calibri" pitchFamily="34" charset="0"/>
                <a:ea typeface="Calibri" pitchFamily="34" charset="-122"/>
                <a:cs typeface="Calibri" pitchFamily="34" charset="-120"/>
              </a:rPr>
              <a:t>Do songs naturally cluster by sound alone?</a:t>
            </a:r>
            <a:endParaRPr lang="en-US" sz="1100" dirty="0"/>
          </a:p>
          <a:p>
            <a:pPr marL="342900" indent="-342900">
              <a:buSzPct val="100000"/>
              <a:buChar char="•"/>
            </a:pPr>
            <a:r>
              <a:rPr lang="en-US" sz="1100" dirty="0">
                <a:solidFill>
                  <a:srgbClr val="2A2A2A"/>
                </a:solidFill>
                <a:latin typeface="Calibri" pitchFamily="34" charset="0"/>
                <a:ea typeface="Calibri" pitchFamily="34" charset="-122"/>
                <a:cs typeface="Calibri" pitchFamily="34" charset="-120"/>
              </a:rPr>
              <a:t>Is the model fair across genres?</a:t>
            </a:r>
            <a:endParaRPr lang="en-US" sz="1100" dirty="0"/>
          </a:p>
        </p:txBody>
      </p:sp>
      <p:pic>
        <p:nvPicPr>
          <p:cNvPr id="10" name="Image 0" descr="/home/claude/nb_plots/01_pop_distribution.png">    </p:cNvPr>
          <p:cNvPicPr>
            <a:picLocks noChangeAspect="1"/>
          </p:cNvPicPr>
          <p:nvPr/>
        </p:nvPicPr>
        <p:blipFill>
          <a:blip r:embed="rId1"/>
          <a:srcRect l="0" r="0" t="0" b="0"/>
          <a:stretch/>
        </p:blipFill>
        <p:spPr>
          <a:xfrm>
            <a:off x="5669280" y="1188720"/>
            <a:ext cx="3291840" cy="1920240"/>
          </a:xfrm>
          <a:prstGeom prst="rect">
            <a:avLst/>
          </a:prstGeom>
        </p:spPr>
      </p:pic>
      <p:sp>
        <p:nvSpPr>
          <p:cNvPr id="11" name="Text 8"/>
          <p:cNvSpPr/>
          <p:nvPr/>
        </p:nvSpPr>
        <p:spPr>
          <a:xfrm>
            <a:off x="5669280" y="3154680"/>
            <a:ext cx="3291840" cy="54864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Popularity is right-skewed.</a:t>
            </a:r>
            <a:endParaRPr lang="en-US" sz="1100" dirty="0"/>
          </a:p>
          <a:p>
            <a:pPr algn="ctr" indent="0" marL="0">
              <a:buNone/>
            </a:pPr>
            <a:r>
              <a:rPr lang="en-US" sz="1100" i="1" dirty="0">
                <a:solidFill>
                  <a:srgbClr val="6B7280"/>
                </a:solidFill>
                <a:latin typeface="Calibri" pitchFamily="34" charset="0"/>
                <a:ea typeface="Calibri" pitchFamily="34" charset="-122"/>
                <a:cs typeface="Calibri" pitchFamily="34" charset="-120"/>
              </a:rPr>
              <a:t>11% of tracks have score = 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91414"/>
                </a:solidFill>
                <a:latin typeface="Calibri" pitchFamily="34" charset="0"/>
                <a:ea typeface="Calibri" pitchFamily="34" charset="-122"/>
                <a:cs typeface="Calibri" pitchFamily="34" charset="-120"/>
              </a:rPr>
              <a:t>What’s already out there</a:t>
            </a:r>
            <a:endParaRPr lang="en-US" sz="3200" dirty="0"/>
          </a:p>
        </p:txBody>
      </p:sp>
      <p:sp>
        <p:nvSpPr>
          <p:cNvPr id="3" name="Shape 1"/>
          <p:cNvSpPr/>
          <p:nvPr/>
        </p:nvSpPr>
        <p:spPr>
          <a:xfrm>
            <a:off x="457200" y="1097280"/>
            <a:ext cx="8229600" cy="1051560"/>
          </a:xfrm>
          <a:prstGeom prst="rect">
            <a:avLst/>
          </a:prstGeom>
          <a:solidFill>
            <a:srgbClr val="FFFFFF"/>
          </a:solidFill>
          <a:ln w="12700">
            <a:solidFill>
              <a:srgbClr val="E5E7EB"/>
            </a:solidFill>
            <a:prstDash val="solid"/>
          </a:ln>
        </p:spPr>
      </p:sp>
      <p:sp>
        <p:nvSpPr>
          <p:cNvPr id="4" name="Shape 2"/>
          <p:cNvSpPr/>
          <p:nvPr/>
        </p:nvSpPr>
        <p:spPr>
          <a:xfrm>
            <a:off x="457200" y="1097280"/>
            <a:ext cx="91440" cy="1051560"/>
          </a:xfrm>
          <a:prstGeom prst="rect">
            <a:avLst/>
          </a:prstGeom>
          <a:solidFill>
            <a:srgbClr val="1DB954"/>
          </a:solidFill>
          <a:ln w="12700">
            <a:solidFill>
              <a:srgbClr val="1DB954"/>
            </a:solidFill>
            <a:prstDash val="solid"/>
          </a:ln>
        </p:spPr>
      </p:sp>
      <p:sp>
        <p:nvSpPr>
          <p:cNvPr id="5" name="Text 3"/>
          <p:cNvSpPr/>
          <p:nvPr/>
        </p:nvSpPr>
        <p:spPr>
          <a:xfrm>
            <a:off x="731520" y="1188720"/>
            <a:ext cx="7772400" cy="365760"/>
          </a:xfrm>
          <a:prstGeom prst="rect">
            <a:avLst/>
          </a:prstGeom>
          <a:noFill/>
          <a:ln/>
        </p:spPr>
        <p:txBody>
          <a:bodyPr wrap="square" lIns="0" tIns="0" rIns="0" bIns="0" rtlCol="0" anchor="ctr"/>
          <a:lstStyle/>
          <a:p>
            <a:pPr indent="0" marL="0">
              <a:buNone/>
            </a:pPr>
            <a:r>
              <a:rPr lang="en-US" sz="1600" b="1" dirty="0">
                <a:solidFill>
                  <a:srgbClr val="0F4C2A"/>
                </a:solidFill>
                <a:latin typeface="Calibri" pitchFamily="34" charset="0"/>
                <a:ea typeface="Calibri" pitchFamily="34" charset="-122"/>
                <a:cs typeface="Calibri" pitchFamily="34" charset="-120"/>
              </a:rPr>
              <a:t>Spotify itself</a:t>
            </a:r>
            <a:endParaRPr lang="en-US" sz="1600" dirty="0"/>
          </a:p>
        </p:txBody>
      </p:sp>
      <p:sp>
        <p:nvSpPr>
          <p:cNvPr id="6" name="Text 4"/>
          <p:cNvSpPr/>
          <p:nvPr/>
        </p:nvSpPr>
        <p:spPr>
          <a:xfrm>
            <a:off x="731520" y="1554480"/>
            <a:ext cx="7772400" cy="548640"/>
          </a:xfrm>
          <a:prstGeom prst="rect">
            <a:avLst/>
          </a:prstGeom>
          <a:noFill/>
          <a:ln/>
        </p:spPr>
        <p:txBody>
          <a:bodyPr wrap="square" lIns="0" tIns="0" rIns="0" bIns="0" rtlCol="0" anchor="t"/>
          <a:lstStyle/>
          <a:p>
            <a:pPr indent="0" marL="0">
              <a:buNone/>
            </a:pPr>
            <a:r>
              <a:rPr lang="en-US" sz="1200" dirty="0">
                <a:solidFill>
                  <a:srgbClr val="2A2A2A"/>
                </a:solidFill>
                <a:latin typeface="Calibri" pitchFamily="34" charset="0"/>
                <a:ea typeface="Calibri" pitchFamily="34" charset="-122"/>
                <a:cs typeface="Calibri" pitchFamily="34" charset="-120"/>
              </a:rPr>
              <a:t>Uses ML extensively for Discover Weekly, Daily Mixes, and Radio. Combines audio features with collaborative filtering, playlist co-occurrence, and listening behavior.</a:t>
            </a:r>
            <a:endParaRPr lang="en-US" sz="1200" dirty="0"/>
          </a:p>
        </p:txBody>
      </p:sp>
      <p:sp>
        <p:nvSpPr>
          <p:cNvPr id="7" name="Shape 5"/>
          <p:cNvSpPr/>
          <p:nvPr/>
        </p:nvSpPr>
        <p:spPr>
          <a:xfrm>
            <a:off x="457200" y="2331720"/>
            <a:ext cx="8229600" cy="1051560"/>
          </a:xfrm>
          <a:prstGeom prst="rect">
            <a:avLst/>
          </a:prstGeom>
          <a:solidFill>
            <a:srgbClr val="FFFFFF"/>
          </a:solidFill>
          <a:ln w="12700">
            <a:solidFill>
              <a:srgbClr val="E5E7EB"/>
            </a:solidFill>
            <a:prstDash val="solid"/>
          </a:ln>
        </p:spPr>
      </p:sp>
      <p:sp>
        <p:nvSpPr>
          <p:cNvPr id="8" name="Shape 6"/>
          <p:cNvSpPr/>
          <p:nvPr/>
        </p:nvSpPr>
        <p:spPr>
          <a:xfrm>
            <a:off x="457200" y="2331720"/>
            <a:ext cx="91440" cy="1051560"/>
          </a:xfrm>
          <a:prstGeom prst="rect">
            <a:avLst/>
          </a:prstGeom>
          <a:solidFill>
            <a:srgbClr val="1DB954"/>
          </a:solidFill>
          <a:ln w="12700">
            <a:solidFill>
              <a:srgbClr val="1DB954"/>
            </a:solidFill>
            <a:prstDash val="solid"/>
          </a:ln>
        </p:spPr>
      </p:sp>
      <p:sp>
        <p:nvSpPr>
          <p:cNvPr id="9" name="Text 7"/>
          <p:cNvSpPr/>
          <p:nvPr/>
        </p:nvSpPr>
        <p:spPr>
          <a:xfrm>
            <a:off x="731520" y="2423160"/>
            <a:ext cx="7772400" cy="365760"/>
          </a:xfrm>
          <a:prstGeom prst="rect">
            <a:avLst/>
          </a:prstGeom>
          <a:noFill/>
          <a:ln/>
        </p:spPr>
        <p:txBody>
          <a:bodyPr wrap="square" lIns="0" tIns="0" rIns="0" bIns="0" rtlCol="0" anchor="ctr"/>
          <a:lstStyle/>
          <a:p>
            <a:pPr indent="0" marL="0">
              <a:buNone/>
            </a:pPr>
            <a:r>
              <a:rPr lang="en-US" sz="1600" b="1" dirty="0">
                <a:solidFill>
                  <a:srgbClr val="0F4C2A"/>
                </a:solidFill>
                <a:latin typeface="Calibri" pitchFamily="34" charset="0"/>
                <a:ea typeface="Calibri" pitchFamily="34" charset="-122"/>
                <a:cs typeface="Calibri" pitchFamily="34" charset="-120"/>
              </a:rPr>
              <a:t>2023 academic study</a:t>
            </a:r>
            <a:endParaRPr lang="en-US" sz="1600" dirty="0"/>
          </a:p>
        </p:txBody>
      </p:sp>
      <p:sp>
        <p:nvSpPr>
          <p:cNvPr id="10" name="Text 8"/>
          <p:cNvSpPr/>
          <p:nvPr/>
        </p:nvSpPr>
        <p:spPr>
          <a:xfrm>
            <a:off x="731520" y="2788920"/>
            <a:ext cx="7772400" cy="548640"/>
          </a:xfrm>
          <a:prstGeom prst="rect">
            <a:avLst/>
          </a:prstGeom>
          <a:noFill/>
          <a:ln/>
        </p:spPr>
        <p:txBody>
          <a:bodyPr wrap="square" lIns="0" tIns="0" rIns="0" bIns="0" rtlCol="0" anchor="t"/>
          <a:lstStyle/>
          <a:p>
            <a:pPr indent="0" marL="0">
              <a:buNone/>
            </a:pPr>
            <a:r>
              <a:rPr lang="en-US" sz="1200" dirty="0">
                <a:solidFill>
                  <a:srgbClr val="2A2A2A"/>
                </a:solidFill>
                <a:latin typeface="Calibri" pitchFamily="34" charset="0"/>
                <a:ea typeface="Calibri" pitchFamily="34" charset="-122"/>
                <a:cs typeface="Calibri" pitchFamily="34" charset="-120"/>
              </a:rPr>
              <a:t>Sulistyaningsih et al. studied the Indonesian Spotify market. Found Extra Trees and Random Forest explain a meaningful fraction of popularity from audio features, but cultural context matters significantly.</a:t>
            </a:r>
            <a:endParaRPr lang="en-US" sz="1200" dirty="0"/>
          </a:p>
        </p:txBody>
      </p:sp>
      <p:sp>
        <p:nvSpPr>
          <p:cNvPr id="11" name="Shape 9"/>
          <p:cNvSpPr/>
          <p:nvPr/>
        </p:nvSpPr>
        <p:spPr>
          <a:xfrm>
            <a:off x="457200" y="3566160"/>
            <a:ext cx="8229600" cy="1051560"/>
          </a:xfrm>
          <a:prstGeom prst="rect">
            <a:avLst/>
          </a:prstGeom>
          <a:solidFill>
            <a:srgbClr val="FFFFFF"/>
          </a:solidFill>
          <a:ln w="12700">
            <a:solidFill>
              <a:srgbClr val="E5E7EB"/>
            </a:solidFill>
            <a:prstDash val="solid"/>
          </a:ln>
        </p:spPr>
      </p:sp>
      <p:sp>
        <p:nvSpPr>
          <p:cNvPr id="12" name="Shape 10"/>
          <p:cNvSpPr/>
          <p:nvPr/>
        </p:nvSpPr>
        <p:spPr>
          <a:xfrm>
            <a:off x="457200" y="3566160"/>
            <a:ext cx="91440" cy="1051560"/>
          </a:xfrm>
          <a:prstGeom prst="rect">
            <a:avLst/>
          </a:prstGeom>
          <a:solidFill>
            <a:srgbClr val="1DB954"/>
          </a:solidFill>
          <a:ln w="12700">
            <a:solidFill>
              <a:srgbClr val="1DB954"/>
            </a:solidFill>
            <a:prstDash val="solid"/>
          </a:ln>
        </p:spPr>
      </p:sp>
      <p:sp>
        <p:nvSpPr>
          <p:cNvPr id="13" name="Text 11"/>
          <p:cNvSpPr/>
          <p:nvPr/>
        </p:nvSpPr>
        <p:spPr>
          <a:xfrm>
            <a:off x="731520" y="3657600"/>
            <a:ext cx="7772400" cy="365760"/>
          </a:xfrm>
          <a:prstGeom prst="rect">
            <a:avLst/>
          </a:prstGeom>
          <a:noFill/>
          <a:ln/>
        </p:spPr>
        <p:txBody>
          <a:bodyPr wrap="square" lIns="0" tIns="0" rIns="0" bIns="0" rtlCol="0" anchor="ctr"/>
          <a:lstStyle/>
          <a:p>
            <a:pPr indent="0" marL="0">
              <a:buNone/>
            </a:pPr>
            <a:r>
              <a:rPr lang="en-US" sz="1600" b="1" dirty="0">
                <a:solidFill>
                  <a:srgbClr val="0F4C2A"/>
                </a:solidFill>
                <a:latin typeface="Calibri" pitchFamily="34" charset="0"/>
                <a:ea typeface="Calibri" pitchFamily="34" charset="-122"/>
                <a:cs typeface="Calibri" pitchFamily="34" charset="-120"/>
              </a:rPr>
              <a:t>Industry consensus</a:t>
            </a:r>
            <a:endParaRPr lang="en-US" sz="1600" dirty="0"/>
          </a:p>
        </p:txBody>
      </p:sp>
      <p:sp>
        <p:nvSpPr>
          <p:cNvPr id="14" name="Text 12"/>
          <p:cNvSpPr/>
          <p:nvPr/>
        </p:nvSpPr>
        <p:spPr>
          <a:xfrm>
            <a:off x="731520" y="4023360"/>
            <a:ext cx="7772400" cy="548640"/>
          </a:xfrm>
          <a:prstGeom prst="rect">
            <a:avLst/>
          </a:prstGeom>
          <a:noFill/>
          <a:ln/>
        </p:spPr>
        <p:txBody>
          <a:bodyPr wrap="square" lIns="0" tIns="0" rIns="0" bIns="0" rtlCol="0" anchor="t"/>
          <a:lstStyle/>
          <a:p>
            <a:pPr indent="0" marL="0">
              <a:buNone/>
            </a:pPr>
            <a:r>
              <a:rPr lang="en-US" sz="1200" dirty="0">
                <a:solidFill>
                  <a:srgbClr val="2A2A2A"/>
                </a:solidFill>
                <a:latin typeface="Calibri" pitchFamily="34" charset="0"/>
                <a:ea typeface="Calibri" pitchFamily="34" charset="-122"/>
                <a:cs typeface="Calibri" pitchFamily="34" charset="-120"/>
              </a:rPr>
              <a:t>Audio features alone are necessary but not sufficient. Best results come from hybrid models combining audio with user-side signals like playlist placement and listening history.</a:t>
            </a:r>
            <a:endParaRPr lang="en-US" sz="1200" dirty="0"/>
          </a:p>
        </p:txBody>
      </p:sp>
      <p:sp>
        <p:nvSpPr>
          <p:cNvPr id="15" name="Text 13"/>
          <p:cNvSpPr/>
          <p:nvPr/>
        </p:nvSpPr>
        <p:spPr>
          <a:xfrm>
            <a:off x="457200" y="4617720"/>
            <a:ext cx="8229600" cy="365760"/>
          </a:xfrm>
          <a:prstGeom prst="rect">
            <a:avLst/>
          </a:prstGeom>
          <a:noFill/>
          <a:ln/>
        </p:spPr>
        <p:txBody>
          <a:bodyPr wrap="square" lIns="0" tIns="0" rIns="0" bIns="0" rtlCol="0" anchor="ctr"/>
          <a:lstStyle/>
          <a:p>
            <a:pPr algn="ctr" indent="0" marL="0">
              <a:buNone/>
            </a:pPr>
            <a:r>
              <a:rPr lang="en-US" sz="1300" i="1" dirty="0">
                <a:solidFill>
                  <a:srgbClr val="1DB954"/>
                </a:solidFill>
                <a:latin typeface="Calibri" pitchFamily="34" charset="0"/>
                <a:ea typeface="Calibri" pitchFamily="34" charset="-122"/>
                <a:cs typeface="Calibri" pitchFamily="34" charset="-120"/>
              </a:rPr>
              <a:t>My question: how far can audio features alone get you, and how much does just adding genre help?</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91414"/>
                </a:solidFill>
                <a:latin typeface="Calibri" pitchFamily="34" charset="0"/>
                <a:ea typeface="Calibri" pitchFamily="34" charset="-122"/>
                <a:cs typeface="Calibri" pitchFamily="34" charset="-120"/>
              </a:rPr>
              <a:t>What I built</a:t>
            </a:r>
            <a:endParaRPr lang="en-US" sz="3200" dirty="0"/>
          </a:p>
        </p:txBody>
      </p:sp>
      <p:sp>
        <p:nvSpPr>
          <p:cNvPr id="3" name="Shape 1"/>
          <p:cNvSpPr/>
          <p:nvPr/>
        </p:nvSpPr>
        <p:spPr>
          <a:xfrm>
            <a:off x="457200" y="1143000"/>
            <a:ext cx="1965960" cy="3200400"/>
          </a:xfrm>
          <a:prstGeom prst="rect">
            <a:avLst/>
          </a:prstGeom>
          <a:solidFill>
            <a:srgbClr val="FAFAFA"/>
          </a:solidFill>
          <a:ln w="12700">
            <a:solidFill>
              <a:srgbClr val="E5E7EB"/>
            </a:solidFill>
            <a:prstDash val="solid"/>
          </a:ln>
        </p:spPr>
      </p:sp>
      <p:sp>
        <p:nvSpPr>
          <p:cNvPr id="4" name="Shape 2"/>
          <p:cNvSpPr/>
          <p:nvPr/>
        </p:nvSpPr>
        <p:spPr>
          <a:xfrm>
            <a:off x="457200" y="1143000"/>
            <a:ext cx="1965960" cy="457200"/>
          </a:xfrm>
          <a:prstGeom prst="rect">
            <a:avLst/>
          </a:prstGeom>
          <a:solidFill>
            <a:srgbClr val="1DB954"/>
          </a:solidFill>
          <a:ln w="12700">
            <a:solidFill>
              <a:srgbClr val="1DB954"/>
            </a:solidFill>
            <a:prstDash val="solid"/>
          </a:ln>
        </p:spPr>
      </p:sp>
      <p:sp>
        <p:nvSpPr>
          <p:cNvPr id="5" name="Text 3"/>
          <p:cNvSpPr/>
          <p:nvPr/>
        </p:nvSpPr>
        <p:spPr>
          <a:xfrm>
            <a:off x="457200" y="1143000"/>
            <a:ext cx="1965960" cy="457200"/>
          </a:xfrm>
          <a:prstGeom prst="rect">
            <a:avLst/>
          </a:prstGeom>
          <a:noFill/>
          <a:ln/>
        </p:spPr>
        <p:txBody>
          <a:bodyPr wrap="square" lIns="0" tIns="0" rIns="0" bIns="0" rtlCol="0" anchor="ctr"/>
          <a:lstStyle/>
          <a:p>
            <a:pPr algn="ctr" indent="0" marL="0">
              <a:buNone/>
            </a:pPr>
            <a:r>
              <a:rPr lang="en-US" sz="1400" b="1" spc="400" kern="0" dirty="0">
                <a:solidFill>
                  <a:srgbClr val="FFFFFF"/>
                </a:solidFill>
                <a:latin typeface="Calibri" pitchFamily="34" charset="0"/>
                <a:ea typeface="Calibri" pitchFamily="34" charset="-122"/>
                <a:cs typeface="Calibri" pitchFamily="34" charset="-120"/>
              </a:rPr>
              <a:t>DATA</a:t>
            </a:r>
            <a:endParaRPr lang="en-US" sz="1400" dirty="0"/>
          </a:p>
        </p:txBody>
      </p:sp>
      <p:sp>
        <p:nvSpPr>
          <p:cNvPr id="6" name="Text 4"/>
          <p:cNvSpPr/>
          <p:nvPr/>
        </p:nvSpPr>
        <p:spPr>
          <a:xfrm>
            <a:off x="594360" y="1691640"/>
            <a:ext cx="1691640" cy="2926080"/>
          </a:xfrm>
          <a:prstGeom prst="rect">
            <a:avLst/>
          </a:prstGeom>
          <a:noFill/>
          <a:ln/>
        </p:spPr>
        <p:txBody>
          <a:bodyPr wrap="square" rtlCol="0" anchor="t"/>
          <a:lstStyle/>
          <a:p>
            <a:pPr marL="342900" indent="-342900">
              <a:spcAft>
                <a:spcPts val="600"/>
              </a:spcAft>
              <a:buSzPct val="100000"/>
              <a:buChar char="•"/>
            </a:pPr>
            <a:r>
              <a:rPr lang="en-US" sz="1000" dirty="0">
                <a:solidFill>
                  <a:srgbClr val="2A2A2A"/>
                </a:solidFill>
                <a:latin typeface="Calibri" pitchFamily="34" charset="0"/>
                <a:ea typeface="Calibri" pitchFamily="34" charset="-122"/>
                <a:cs typeface="Calibri" pitchFamily="34" charset="-120"/>
              </a:rPr>
              <a:t>Started with 114K rows from Kaggle</a:t>
            </a:r>
            <a:endParaRPr lang="en-US" sz="1000" dirty="0"/>
          </a:p>
          <a:p>
            <a:pPr marL="342900" indent="-342900">
              <a:spcAft>
                <a:spcPts val="600"/>
              </a:spcAft>
              <a:buSzPct val="100000"/>
              <a:buChar char="•"/>
            </a:pPr>
            <a:r>
              <a:rPr lang="en-US" sz="1000" dirty="0">
                <a:solidFill>
                  <a:srgbClr val="2A2A2A"/>
                </a:solidFill>
                <a:latin typeface="Calibri" pitchFamily="34" charset="0"/>
                <a:ea typeface="Calibri" pitchFamily="34" charset="-122"/>
                <a:cs typeface="Calibri" pitchFamily="34" charset="-120"/>
              </a:rPr>
              <a:t>Same song appears under multiple genres, so I deduplicated on track_id</a:t>
            </a:r>
            <a:endParaRPr lang="en-US" sz="1000" dirty="0"/>
          </a:p>
          <a:p>
            <a:pPr marL="342900" indent="-342900">
              <a:spcAft>
                <a:spcPts val="600"/>
              </a:spcAft>
              <a:buSzPct val="100000"/>
              <a:buChar char="•"/>
            </a:pPr>
            <a:r>
              <a:rPr lang="en-US" sz="1000" dirty="0">
                <a:solidFill>
                  <a:srgbClr val="2A2A2A"/>
                </a:solidFill>
                <a:latin typeface="Calibri" pitchFamily="34" charset="0"/>
                <a:ea typeface="Calibri" pitchFamily="34" charset="-122"/>
                <a:cs typeface="Calibri" pitchFamily="34" charset="-120"/>
              </a:rPr>
              <a:t>Ended up with 89,740 unique tracks across 113 genres</a:t>
            </a:r>
            <a:endParaRPr lang="en-US" sz="1000" dirty="0"/>
          </a:p>
          <a:p>
            <a:pPr marL="342900" indent="-342900">
              <a:spcAft>
                <a:spcPts val="600"/>
              </a:spcAft>
              <a:buSzPct val="100000"/>
              <a:buChar char="•"/>
            </a:pPr>
            <a:r>
              <a:rPr lang="en-US" sz="1000" dirty="0">
                <a:solidFill>
                  <a:srgbClr val="2A2A2A"/>
                </a:solidFill>
                <a:latin typeface="Calibri" pitchFamily="34" charset="0"/>
                <a:ea typeface="Calibri" pitchFamily="34" charset="-122"/>
                <a:cs typeface="Calibri" pitchFamily="34" charset="-120"/>
              </a:rPr>
              <a:t>Dropped 1 row missing artist and title info</a:t>
            </a:r>
            <a:endParaRPr lang="en-US" sz="1000" dirty="0"/>
          </a:p>
        </p:txBody>
      </p:sp>
      <p:sp>
        <p:nvSpPr>
          <p:cNvPr id="7" name="Shape 5"/>
          <p:cNvSpPr/>
          <p:nvPr/>
        </p:nvSpPr>
        <p:spPr>
          <a:xfrm>
            <a:off x="2542032" y="1143000"/>
            <a:ext cx="1965960" cy="3200400"/>
          </a:xfrm>
          <a:prstGeom prst="rect">
            <a:avLst/>
          </a:prstGeom>
          <a:solidFill>
            <a:srgbClr val="FAFAFA"/>
          </a:solidFill>
          <a:ln w="12700">
            <a:solidFill>
              <a:srgbClr val="E5E7EB"/>
            </a:solidFill>
            <a:prstDash val="solid"/>
          </a:ln>
        </p:spPr>
      </p:sp>
      <p:sp>
        <p:nvSpPr>
          <p:cNvPr id="8" name="Shape 6"/>
          <p:cNvSpPr/>
          <p:nvPr/>
        </p:nvSpPr>
        <p:spPr>
          <a:xfrm>
            <a:off x="2542032" y="1143000"/>
            <a:ext cx="1965960" cy="457200"/>
          </a:xfrm>
          <a:prstGeom prst="rect">
            <a:avLst/>
          </a:prstGeom>
          <a:solidFill>
            <a:srgbClr val="1DB954"/>
          </a:solidFill>
          <a:ln w="12700">
            <a:solidFill>
              <a:srgbClr val="1DB954"/>
            </a:solidFill>
            <a:prstDash val="solid"/>
          </a:ln>
        </p:spPr>
      </p:sp>
      <p:sp>
        <p:nvSpPr>
          <p:cNvPr id="9" name="Text 7"/>
          <p:cNvSpPr/>
          <p:nvPr/>
        </p:nvSpPr>
        <p:spPr>
          <a:xfrm>
            <a:off x="2542032" y="1143000"/>
            <a:ext cx="1965960" cy="457200"/>
          </a:xfrm>
          <a:prstGeom prst="rect">
            <a:avLst/>
          </a:prstGeom>
          <a:noFill/>
          <a:ln/>
        </p:spPr>
        <p:txBody>
          <a:bodyPr wrap="square" lIns="0" tIns="0" rIns="0" bIns="0" rtlCol="0" anchor="ctr"/>
          <a:lstStyle/>
          <a:p>
            <a:pPr algn="ctr" indent="0" marL="0">
              <a:buNone/>
            </a:pPr>
            <a:r>
              <a:rPr lang="en-US" sz="1400" b="1" spc="400" kern="0" dirty="0">
                <a:solidFill>
                  <a:srgbClr val="FFFFFF"/>
                </a:solidFill>
                <a:latin typeface="Calibri" pitchFamily="34" charset="0"/>
                <a:ea typeface="Calibri" pitchFamily="34" charset="-122"/>
                <a:cs typeface="Calibri" pitchFamily="34" charset="-120"/>
              </a:rPr>
              <a:t>FEATURES</a:t>
            </a:r>
            <a:endParaRPr lang="en-US" sz="1400" dirty="0"/>
          </a:p>
        </p:txBody>
      </p:sp>
      <p:sp>
        <p:nvSpPr>
          <p:cNvPr id="10" name="Text 8"/>
          <p:cNvSpPr/>
          <p:nvPr/>
        </p:nvSpPr>
        <p:spPr>
          <a:xfrm>
            <a:off x="2679192" y="1691640"/>
            <a:ext cx="1691640" cy="2926080"/>
          </a:xfrm>
          <a:prstGeom prst="rect">
            <a:avLst/>
          </a:prstGeom>
          <a:noFill/>
          <a:ln/>
        </p:spPr>
        <p:txBody>
          <a:bodyPr wrap="square" rtlCol="0" anchor="t"/>
          <a:lstStyle/>
          <a:p>
            <a:pPr marL="342900" indent="-342900">
              <a:spcAft>
                <a:spcPts val="600"/>
              </a:spcAft>
              <a:buSzPct val="100000"/>
              <a:buChar char="•"/>
            </a:pPr>
            <a:r>
              <a:rPr lang="en-US" sz="1000" dirty="0">
                <a:solidFill>
                  <a:srgbClr val="2A2A2A"/>
                </a:solidFill>
                <a:latin typeface="Calibri" pitchFamily="34" charset="0"/>
                <a:ea typeface="Calibri" pitchFamily="34" charset="-122"/>
                <a:cs typeface="Calibri" pitchFamily="34" charset="-120"/>
              </a:rPr>
              <a:t>Built two feature sets to test how much genre adds</a:t>
            </a:r>
            <a:endParaRPr lang="en-US" sz="1000" dirty="0"/>
          </a:p>
          <a:p>
            <a:pPr marL="342900" indent="-342900">
              <a:spcAft>
                <a:spcPts val="600"/>
              </a:spcAft>
              <a:buSzPct val="100000"/>
              <a:buChar char="•"/>
            </a:pPr>
            <a:r>
              <a:rPr lang="en-US" sz="1000" dirty="0">
                <a:solidFill>
                  <a:srgbClr val="2A2A2A"/>
                </a:solidFill>
                <a:latin typeface="Calibri" pitchFamily="34" charset="0"/>
                <a:ea typeface="Calibri" pitchFamily="34" charset="-122"/>
                <a:cs typeface="Calibri" pitchFamily="34" charset="-120"/>
              </a:rPr>
              <a:t>Set A: Audio only (14 features) - danceability, energy, loudness, tempo, etc.</a:t>
            </a:r>
            <a:endParaRPr lang="en-US" sz="1000" dirty="0"/>
          </a:p>
          <a:p>
            <a:pPr marL="342900" indent="-342900">
              <a:spcAft>
                <a:spcPts val="600"/>
              </a:spcAft>
              <a:buSzPct val="100000"/>
              <a:buChar char="•"/>
            </a:pPr>
            <a:r>
              <a:rPr lang="en-US" sz="1000" dirty="0">
                <a:solidFill>
                  <a:srgbClr val="2A2A2A"/>
                </a:solidFill>
                <a:latin typeface="Calibri" pitchFamily="34" charset="0"/>
                <a:ea typeface="Calibri" pitchFamily="34" charset="-122"/>
                <a:cs typeface="Calibri" pitchFamily="34" charset="-120"/>
              </a:rPr>
              <a:t>Set B: Audio + Genre (127 features) - Set A plus one-hot encoded genre</a:t>
            </a:r>
            <a:endParaRPr lang="en-US" sz="1000" dirty="0"/>
          </a:p>
          <a:p>
            <a:pPr marL="342900" indent="-342900">
              <a:spcAft>
                <a:spcPts val="600"/>
              </a:spcAft>
              <a:buSzPct val="100000"/>
              <a:buChar char="•"/>
            </a:pPr>
            <a:r>
              <a:rPr lang="en-US" sz="1000" dirty="0">
                <a:solidFill>
                  <a:srgbClr val="2A2A2A"/>
                </a:solidFill>
                <a:latin typeface="Calibri" pitchFamily="34" charset="0"/>
                <a:ea typeface="Calibri" pitchFamily="34" charset="-122"/>
                <a:cs typeface="Calibri" pitchFamily="34" charset="-120"/>
              </a:rPr>
              <a:t>StandardScaler for linear models, raw values for tree models</a:t>
            </a:r>
            <a:endParaRPr lang="en-US" sz="1000" dirty="0"/>
          </a:p>
        </p:txBody>
      </p:sp>
      <p:sp>
        <p:nvSpPr>
          <p:cNvPr id="11" name="Shape 9"/>
          <p:cNvSpPr/>
          <p:nvPr/>
        </p:nvSpPr>
        <p:spPr>
          <a:xfrm>
            <a:off x="4626864" y="1143000"/>
            <a:ext cx="1965960" cy="3200400"/>
          </a:xfrm>
          <a:prstGeom prst="rect">
            <a:avLst/>
          </a:prstGeom>
          <a:solidFill>
            <a:srgbClr val="FAFAFA"/>
          </a:solidFill>
          <a:ln w="12700">
            <a:solidFill>
              <a:srgbClr val="E5E7EB"/>
            </a:solidFill>
            <a:prstDash val="solid"/>
          </a:ln>
        </p:spPr>
      </p:sp>
      <p:sp>
        <p:nvSpPr>
          <p:cNvPr id="12" name="Shape 10"/>
          <p:cNvSpPr/>
          <p:nvPr/>
        </p:nvSpPr>
        <p:spPr>
          <a:xfrm>
            <a:off x="4626864" y="1143000"/>
            <a:ext cx="1965960" cy="457200"/>
          </a:xfrm>
          <a:prstGeom prst="rect">
            <a:avLst/>
          </a:prstGeom>
          <a:solidFill>
            <a:srgbClr val="1DB954"/>
          </a:solidFill>
          <a:ln w="12700">
            <a:solidFill>
              <a:srgbClr val="1DB954"/>
            </a:solidFill>
            <a:prstDash val="solid"/>
          </a:ln>
        </p:spPr>
      </p:sp>
      <p:sp>
        <p:nvSpPr>
          <p:cNvPr id="13" name="Text 11"/>
          <p:cNvSpPr/>
          <p:nvPr/>
        </p:nvSpPr>
        <p:spPr>
          <a:xfrm>
            <a:off x="4626864" y="1143000"/>
            <a:ext cx="1965960" cy="457200"/>
          </a:xfrm>
          <a:prstGeom prst="rect">
            <a:avLst/>
          </a:prstGeom>
          <a:noFill/>
          <a:ln/>
        </p:spPr>
        <p:txBody>
          <a:bodyPr wrap="square" lIns="0" tIns="0" rIns="0" bIns="0" rtlCol="0" anchor="ctr"/>
          <a:lstStyle/>
          <a:p>
            <a:pPr algn="ctr" indent="0" marL="0">
              <a:buNone/>
            </a:pPr>
            <a:r>
              <a:rPr lang="en-US" sz="1400" b="1" spc="400" kern="0" dirty="0">
                <a:solidFill>
                  <a:srgbClr val="FFFFFF"/>
                </a:solidFill>
                <a:latin typeface="Calibri" pitchFamily="34" charset="0"/>
                <a:ea typeface="Calibri" pitchFamily="34" charset="-122"/>
                <a:cs typeface="Calibri" pitchFamily="34" charset="-120"/>
              </a:rPr>
              <a:t>MODELS</a:t>
            </a:r>
            <a:endParaRPr lang="en-US" sz="1400" dirty="0"/>
          </a:p>
        </p:txBody>
      </p:sp>
      <p:sp>
        <p:nvSpPr>
          <p:cNvPr id="14" name="Text 12"/>
          <p:cNvSpPr/>
          <p:nvPr/>
        </p:nvSpPr>
        <p:spPr>
          <a:xfrm>
            <a:off x="4764024" y="1691640"/>
            <a:ext cx="1691640" cy="2926080"/>
          </a:xfrm>
          <a:prstGeom prst="rect">
            <a:avLst/>
          </a:prstGeom>
          <a:noFill/>
          <a:ln/>
        </p:spPr>
        <p:txBody>
          <a:bodyPr wrap="square" rtlCol="0" anchor="t"/>
          <a:lstStyle/>
          <a:p>
            <a:pPr marL="342900" indent="-342900">
              <a:spcAft>
                <a:spcPts val="600"/>
              </a:spcAft>
              <a:buSzPct val="100000"/>
              <a:buChar char="•"/>
            </a:pPr>
            <a:r>
              <a:rPr lang="en-US" sz="1000" dirty="0">
                <a:solidFill>
                  <a:srgbClr val="2A2A2A"/>
                </a:solidFill>
                <a:latin typeface="Calibri" pitchFamily="34" charset="0"/>
                <a:ea typeface="Calibri" pitchFamily="34" charset="-122"/>
                <a:cs typeface="Calibri" pitchFamily="34" charset="-120"/>
              </a:rPr>
              <a:t>Regression: Linear, Ridge, Random Forest, HistGradient Boosting</a:t>
            </a:r>
            <a:endParaRPr lang="en-US" sz="1000" dirty="0"/>
          </a:p>
          <a:p>
            <a:pPr marL="342900" indent="-342900">
              <a:spcAft>
                <a:spcPts val="600"/>
              </a:spcAft>
              <a:buSzPct val="100000"/>
              <a:buChar char="•"/>
            </a:pPr>
            <a:r>
              <a:rPr lang="en-US" sz="1000" dirty="0">
                <a:solidFill>
                  <a:srgbClr val="2A2A2A"/>
                </a:solidFill>
                <a:latin typeface="Calibri" pitchFamily="34" charset="0"/>
                <a:ea typeface="Calibri" pitchFamily="34" charset="-122"/>
                <a:cs typeface="Calibri" pitchFamily="34" charset="-120"/>
              </a:rPr>
              <a:t>Classification: Logistic, Decision Tree, Random Forest, HistGradient Boosting</a:t>
            </a:r>
            <a:endParaRPr lang="en-US" sz="1000" dirty="0"/>
          </a:p>
          <a:p>
            <a:pPr marL="342900" indent="-342900">
              <a:spcAft>
                <a:spcPts val="600"/>
              </a:spcAft>
              <a:buSzPct val="100000"/>
              <a:buChar char="•"/>
            </a:pPr>
            <a:r>
              <a:rPr lang="en-US" sz="1000" dirty="0">
                <a:solidFill>
                  <a:srgbClr val="2A2A2A"/>
                </a:solidFill>
                <a:latin typeface="Calibri" pitchFamily="34" charset="0"/>
                <a:ea typeface="Calibri" pitchFamily="34" charset="-122"/>
                <a:cs typeface="Calibri" pitchFamily="34" charset="-120"/>
              </a:rPr>
              <a:t>Unsupervised: K-Means with elbow + silhouette</a:t>
            </a:r>
            <a:endParaRPr lang="en-US" sz="1000" dirty="0"/>
          </a:p>
          <a:p>
            <a:pPr marL="342900" indent="-342900">
              <a:spcAft>
                <a:spcPts val="600"/>
              </a:spcAft>
              <a:buSzPct val="100000"/>
              <a:buChar char="•"/>
            </a:pPr>
            <a:r>
              <a:rPr lang="en-US" sz="1000" dirty="0">
                <a:solidFill>
                  <a:srgbClr val="2A2A2A"/>
                </a:solidFill>
                <a:latin typeface="Calibri" pitchFamily="34" charset="0"/>
                <a:ea typeface="Calibri" pitchFamily="34" charset="-122"/>
                <a:cs typeface="Calibri" pitchFamily="34" charset="-120"/>
              </a:rPr>
              <a:t>Tuning: GridSearchCV on best regressor</a:t>
            </a:r>
            <a:endParaRPr lang="en-US" sz="1000" dirty="0"/>
          </a:p>
        </p:txBody>
      </p:sp>
      <p:sp>
        <p:nvSpPr>
          <p:cNvPr id="15" name="Shape 13"/>
          <p:cNvSpPr/>
          <p:nvPr/>
        </p:nvSpPr>
        <p:spPr>
          <a:xfrm>
            <a:off x="6711696" y="1143000"/>
            <a:ext cx="1965960" cy="3200400"/>
          </a:xfrm>
          <a:prstGeom prst="rect">
            <a:avLst/>
          </a:prstGeom>
          <a:solidFill>
            <a:srgbClr val="FAFAFA"/>
          </a:solidFill>
          <a:ln w="12700">
            <a:solidFill>
              <a:srgbClr val="E5E7EB"/>
            </a:solidFill>
            <a:prstDash val="solid"/>
          </a:ln>
        </p:spPr>
      </p:sp>
      <p:sp>
        <p:nvSpPr>
          <p:cNvPr id="16" name="Shape 14"/>
          <p:cNvSpPr/>
          <p:nvPr/>
        </p:nvSpPr>
        <p:spPr>
          <a:xfrm>
            <a:off x="6711696" y="1143000"/>
            <a:ext cx="1965960" cy="457200"/>
          </a:xfrm>
          <a:prstGeom prst="rect">
            <a:avLst/>
          </a:prstGeom>
          <a:solidFill>
            <a:srgbClr val="1DB954"/>
          </a:solidFill>
          <a:ln w="12700">
            <a:solidFill>
              <a:srgbClr val="1DB954"/>
            </a:solidFill>
            <a:prstDash val="solid"/>
          </a:ln>
        </p:spPr>
      </p:sp>
      <p:sp>
        <p:nvSpPr>
          <p:cNvPr id="17" name="Text 15"/>
          <p:cNvSpPr/>
          <p:nvPr/>
        </p:nvSpPr>
        <p:spPr>
          <a:xfrm>
            <a:off x="6711696" y="1143000"/>
            <a:ext cx="1965960" cy="457200"/>
          </a:xfrm>
          <a:prstGeom prst="rect">
            <a:avLst/>
          </a:prstGeom>
          <a:noFill/>
          <a:ln/>
        </p:spPr>
        <p:txBody>
          <a:bodyPr wrap="square" lIns="0" tIns="0" rIns="0" bIns="0" rtlCol="0" anchor="ctr"/>
          <a:lstStyle/>
          <a:p>
            <a:pPr algn="ctr" indent="0" marL="0">
              <a:buNone/>
            </a:pPr>
            <a:r>
              <a:rPr lang="en-US" sz="1400" b="1" spc="400" kern="0" dirty="0">
                <a:solidFill>
                  <a:srgbClr val="FFFFFF"/>
                </a:solidFill>
                <a:latin typeface="Calibri" pitchFamily="34" charset="0"/>
                <a:ea typeface="Calibri" pitchFamily="34" charset="-122"/>
                <a:cs typeface="Calibri" pitchFamily="34" charset="-120"/>
              </a:rPr>
              <a:t>EVAL</a:t>
            </a:r>
            <a:endParaRPr lang="en-US" sz="1400" dirty="0"/>
          </a:p>
        </p:txBody>
      </p:sp>
      <p:sp>
        <p:nvSpPr>
          <p:cNvPr id="18" name="Text 16"/>
          <p:cNvSpPr/>
          <p:nvPr/>
        </p:nvSpPr>
        <p:spPr>
          <a:xfrm>
            <a:off x="6848856" y="1691640"/>
            <a:ext cx="1691640" cy="2926080"/>
          </a:xfrm>
          <a:prstGeom prst="rect">
            <a:avLst/>
          </a:prstGeom>
          <a:noFill/>
          <a:ln/>
        </p:spPr>
        <p:txBody>
          <a:bodyPr wrap="square" rtlCol="0" anchor="t"/>
          <a:lstStyle/>
          <a:p>
            <a:pPr marL="342900" indent="-342900">
              <a:spcAft>
                <a:spcPts val="600"/>
              </a:spcAft>
              <a:buSzPct val="100000"/>
              <a:buChar char="•"/>
            </a:pPr>
            <a:r>
              <a:rPr lang="en-US" sz="1000" dirty="0">
                <a:solidFill>
                  <a:srgbClr val="2A2A2A"/>
                </a:solidFill>
                <a:latin typeface="Calibri" pitchFamily="34" charset="0"/>
                <a:ea typeface="Calibri" pitchFamily="34" charset="-122"/>
                <a:cs typeface="Calibri" pitchFamily="34" charset="-120"/>
              </a:rPr>
              <a:t>80/20 train-test split with fixed random seed</a:t>
            </a:r>
            <a:endParaRPr lang="en-US" sz="1000" dirty="0"/>
          </a:p>
          <a:p>
            <a:pPr marL="342900" indent="-342900">
              <a:spcAft>
                <a:spcPts val="600"/>
              </a:spcAft>
              <a:buSzPct val="100000"/>
              <a:buChar char="•"/>
            </a:pPr>
            <a:r>
              <a:rPr lang="en-US" sz="1000" dirty="0">
                <a:solidFill>
                  <a:srgbClr val="2A2A2A"/>
                </a:solidFill>
                <a:latin typeface="Calibri" pitchFamily="34" charset="0"/>
                <a:ea typeface="Calibri" pitchFamily="34" charset="-122"/>
                <a:cs typeface="Calibri" pitchFamily="34" charset="-120"/>
              </a:rPr>
              <a:t>Regression: RMSE, MAE, R² on test set</a:t>
            </a:r>
            <a:endParaRPr lang="en-US" sz="1000" dirty="0"/>
          </a:p>
          <a:p>
            <a:pPr marL="342900" indent="-342900">
              <a:spcAft>
                <a:spcPts val="600"/>
              </a:spcAft>
              <a:buSzPct val="100000"/>
              <a:buChar char="•"/>
            </a:pPr>
            <a:r>
              <a:rPr lang="en-US" sz="1000" dirty="0">
                <a:solidFill>
                  <a:srgbClr val="2A2A2A"/>
                </a:solidFill>
                <a:latin typeface="Calibri" pitchFamily="34" charset="0"/>
                <a:ea typeface="Calibri" pitchFamily="34" charset="-122"/>
                <a:cs typeface="Calibri" pitchFamily="34" charset="-120"/>
              </a:rPr>
              <a:t>Classification: Accuracy, weighted F1</a:t>
            </a:r>
            <a:endParaRPr lang="en-US" sz="1000" dirty="0"/>
          </a:p>
          <a:p>
            <a:pPr marL="342900" indent="-342900">
              <a:spcAft>
                <a:spcPts val="600"/>
              </a:spcAft>
              <a:buSzPct val="100000"/>
              <a:buChar char="•"/>
            </a:pPr>
            <a:r>
              <a:rPr lang="en-US" sz="1000" dirty="0">
                <a:solidFill>
                  <a:srgbClr val="2A2A2A"/>
                </a:solidFill>
                <a:latin typeface="Calibri" pitchFamily="34" charset="0"/>
                <a:ea typeface="Calibri" pitchFamily="34" charset="-122"/>
                <a:cs typeface="Calibri" pitchFamily="34" charset="-120"/>
              </a:rPr>
              <a:t>Per-genre prediction error for fairness check</a:t>
            </a:r>
            <a:endParaRPr lang="en-US" sz="1000" dirty="0"/>
          </a:p>
        </p:txBody>
      </p:sp>
      <p:sp>
        <p:nvSpPr>
          <p:cNvPr id="19" name="Text 17"/>
          <p:cNvSpPr/>
          <p:nvPr/>
        </p:nvSpPr>
        <p:spPr>
          <a:xfrm>
            <a:off x="457200" y="4663440"/>
            <a:ext cx="8229600" cy="27432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Two regression experiments (Audio Only vs Audio + Genre) isolate exactly how much signal genre adds.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91414"/>
                </a:solidFill>
                <a:latin typeface="Calibri" pitchFamily="34" charset="0"/>
                <a:ea typeface="Calibri" pitchFamily="34" charset="-122"/>
                <a:cs typeface="Calibri" pitchFamily="34" charset="-120"/>
              </a:rPr>
              <a:t>What I found</a:t>
            </a:r>
            <a:endParaRPr lang="en-US" sz="3200" dirty="0"/>
          </a:p>
        </p:txBody>
      </p:sp>
      <p:sp>
        <p:nvSpPr>
          <p:cNvPr id="3" name="Shape 1"/>
          <p:cNvSpPr/>
          <p:nvPr/>
        </p:nvSpPr>
        <p:spPr>
          <a:xfrm>
            <a:off x="457200" y="1097280"/>
            <a:ext cx="2697480" cy="1005840"/>
          </a:xfrm>
          <a:prstGeom prst="rect">
            <a:avLst/>
          </a:prstGeom>
          <a:solidFill>
            <a:srgbClr val="FAFAFA"/>
          </a:solidFill>
          <a:ln w="12700">
            <a:solidFill>
              <a:srgbClr val="E5E7EB"/>
            </a:solidFill>
            <a:prstDash val="solid"/>
          </a:ln>
        </p:spPr>
      </p:sp>
      <p:sp>
        <p:nvSpPr>
          <p:cNvPr id="4" name="Text 2"/>
          <p:cNvSpPr/>
          <p:nvPr/>
        </p:nvSpPr>
        <p:spPr>
          <a:xfrm>
            <a:off x="457200" y="1143000"/>
            <a:ext cx="2697480" cy="502920"/>
          </a:xfrm>
          <a:prstGeom prst="rect">
            <a:avLst/>
          </a:prstGeom>
          <a:noFill/>
          <a:ln/>
        </p:spPr>
        <p:txBody>
          <a:bodyPr wrap="square" lIns="0" tIns="0" rIns="0" bIns="0" rtlCol="0" anchor="ctr"/>
          <a:lstStyle/>
          <a:p>
            <a:pPr algn="ctr" indent="0" marL="0">
              <a:buNone/>
            </a:pPr>
            <a:r>
              <a:rPr lang="en-US" sz="2800" b="1" dirty="0">
                <a:solidFill>
                  <a:srgbClr val="1DB954"/>
                </a:solidFill>
                <a:latin typeface="Calibri" pitchFamily="34" charset="0"/>
                <a:ea typeface="Calibri" pitchFamily="34" charset="-122"/>
                <a:cs typeface="Calibri" pitchFamily="34" charset="-120"/>
              </a:rPr>
              <a:t>R² = 0.42</a:t>
            </a:r>
            <a:endParaRPr lang="en-US" sz="2800" dirty="0"/>
          </a:p>
        </p:txBody>
      </p:sp>
      <p:sp>
        <p:nvSpPr>
          <p:cNvPr id="5" name="Text 3"/>
          <p:cNvSpPr/>
          <p:nvPr/>
        </p:nvSpPr>
        <p:spPr>
          <a:xfrm>
            <a:off x="457200" y="1627632"/>
            <a:ext cx="2697480" cy="457200"/>
          </a:xfrm>
          <a:prstGeom prst="rect">
            <a:avLst/>
          </a:prstGeom>
          <a:noFill/>
          <a:ln/>
        </p:spPr>
        <p:txBody>
          <a:bodyPr wrap="square" lIns="0" tIns="0" rIns="0" bIns="0" rtlCol="0" anchor="t"/>
          <a:lstStyle/>
          <a:p>
            <a:pPr algn="ctr" indent="0" marL="0">
              <a:buNone/>
            </a:pPr>
            <a:r>
              <a:rPr lang="en-US" sz="1100" dirty="0">
                <a:solidFill>
                  <a:srgbClr val="2A2A2A"/>
                </a:solidFill>
                <a:latin typeface="Calibri" pitchFamily="34" charset="0"/>
                <a:ea typeface="Calibri" pitchFamily="34" charset="-122"/>
                <a:cs typeface="Calibri" pitchFamily="34" charset="-120"/>
              </a:rPr>
              <a:t>best regression</a:t>
            </a:r>
            <a:endParaRPr lang="en-US" sz="1100" dirty="0"/>
          </a:p>
          <a:p>
            <a:pPr algn="ctr" indent="0" marL="0">
              <a:buNone/>
            </a:pPr>
            <a:r>
              <a:rPr lang="en-US" sz="1100" dirty="0">
                <a:solidFill>
                  <a:srgbClr val="2A2A2A"/>
                </a:solidFill>
                <a:latin typeface="Calibri" pitchFamily="34" charset="0"/>
                <a:ea typeface="Calibri" pitchFamily="34" charset="-122"/>
                <a:cs typeface="Calibri" pitchFamily="34" charset="-120"/>
              </a:rPr>
              <a:t>(tuned HGB)</a:t>
            </a:r>
            <a:endParaRPr lang="en-US" sz="1100" dirty="0"/>
          </a:p>
        </p:txBody>
      </p:sp>
      <p:sp>
        <p:nvSpPr>
          <p:cNvPr id="6" name="Shape 4"/>
          <p:cNvSpPr/>
          <p:nvPr/>
        </p:nvSpPr>
        <p:spPr>
          <a:xfrm>
            <a:off x="3246120" y="1097280"/>
            <a:ext cx="2697480" cy="1005840"/>
          </a:xfrm>
          <a:prstGeom prst="rect">
            <a:avLst/>
          </a:prstGeom>
          <a:solidFill>
            <a:srgbClr val="FAFAFA"/>
          </a:solidFill>
          <a:ln w="12700">
            <a:solidFill>
              <a:srgbClr val="E5E7EB"/>
            </a:solidFill>
            <a:prstDash val="solid"/>
          </a:ln>
        </p:spPr>
      </p:sp>
      <p:sp>
        <p:nvSpPr>
          <p:cNvPr id="7" name="Text 5"/>
          <p:cNvSpPr/>
          <p:nvPr/>
        </p:nvSpPr>
        <p:spPr>
          <a:xfrm>
            <a:off x="3246120" y="1143000"/>
            <a:ext cx="2697480" cy="502920"/>
          </a:xfrm>
          <a:prstGeom prst="rect">
            <a:avLst/>
          </a:prstGeom>
          <a:noFill/>
          <a:ln/>
        </p:spPr>
        <p:txBody>
          <a:bodyPr wrap="square" lIns="0" tIns="0" rIns="0" bIns="0" rtlCol="0" anchor="ctr"/>
          <a:lstStyle/>
          <a:p>
            <a:pPr algn="ctr" indent="0" marL="0">
              <a:buNone/>
            </a:pPr>
            <a:r>
              <a:rPr lang="en-US" sz="2800" b="1" dirty="0">
                <a:solidFill>
                  <a:srgbClr val="1DB954"/>
                </a:solidFill>
                <a:latin typeface="Calibri" pitchFamily="34" charset="0"/>
                <a:ea typeface="Calibri" pitchFamily="34" charset="-122"/>
                <a:cs typeface="Calibri" pitchFamily="34" charset="-120"/>
              </a:rPr>
              <a:t>70%</a:t>
            </a:r>
            <a:endParaRPr lang="en-US" sz="2800" dirty="0"/>
          </a:p>
        </p:txBody>
      </p:sp>
      <p:sp>
        <p:nvSpPr>
          <p:cNvPr id="8" name="Text 6"/>
          <p:cNvSpPr/>
          <p:nvPr/>
        </p:nvSpPr>
        <p:spPr>
          <a:xfrm>
            <a:off x="3246120" y="1627632"/>
            <a:ext cx="2697480" cy="457200"/>
          </a:xfrm>
          <a:prstGeom prst="rect">
            <a:avLst/>
          </a:prstGeom>
          <a:noFill/>
          <a:ln/>
        </p:spPr>
        <p:txBody>
          <a:bodyPr wrap="square" lIns="0" tIns="0" rIns="0" bIns="0" rtlCol="0" anchor="t"/>
          <a:lstStyle/>
          <a:p>
            <a:pPr algn="ctr" indent="0" marL="0">
              <a:buNone/>
            </a:pPr>
            <a:r>
              <a:rPr lang="en-US" sz="1100" dirty="0">
                <a:solidFill>
                  <a:srgbClr val="2A2A2A"/>
                </a:solidFill>
                <a:latin typeface="Calibri" pitchFamily="34" charset="0"/>
                <a:ea typeface="Calibri" pitchFamily="34" charset="-122"/>
                <a:cs typeface="Calibri" pitchFamily="34" charset="-120"/>
              </a:rPr>
              <a:t>classification accuracy</a:t>
            </a:r>
            <a:endParaRPr lang="en-US" sz="1100" dirty="0"/>
          </a:p>
          <a:p>
            <a:pPr algn="ctr" indent="0" marL="0">
              <a:buNone/>
            </a:pPr>
            <a:r>
              <a:rPr lang="en-US" sz="1100" dirty="0">
                <a:solidFill>
                  <a:srgbClr val="2A2A2A"/>
                </a:solidFill>
                <a:latin typeface="Calibri" pitchFamily="34" charset="0"/>
                <a:ea typeface="Calibri" pitchFamily="34" charset="-122"/>
                <a:cs typeface="Calibri" pitchFamily="34" charset="-120"/>
              </a:rPr>
              <a:t>(F1 = 0.70)</a:t>
            </a:r>
            <a:endParaRPr lang="en-US" sz="1100" dirty="0"/>
          </a:p>
        </p:txBody>
      </p:sp>
      <p:sp>
        <p:nvSpPr>
          <p:cNvPr id="9" name="Shape 7"/>
          <p:cNvSpPr/>
          <p:nvPr/>
        </p:nvSpPr>
        <p:spPr>
          <a:xfrm>
            <a:off x="6035040" y="1097280"/>
            <a:ext cx="2697480" cy="1005840"/>
          </a:xfrm>
          <a:prstGeom prst="rect">
            <a:avLst/>
          </a:prstGeom>
          <a:solidFill>
            <a:srgbClr val="FAFAFA"/>
          </a:solidFill>
          <a:ln w="12700">
            <a:solidFill>
              <a:srgbClr val="E5E7EB"/>
            </a:solidFill>
            <a:prstDash val="solid"/>
          </a:ln>
        </p:spPr>
      </p:sp>
      <p:sp>
        <p:nvSpPr>
          <p:cNvPr id="10" name="Text 8"/>
          <p:cNvSpPr/>
          <p:nvPr/>
        </p:nvSpPr>
        <p:spPr>
          <a:xfrm>
            <a:off x="6035040" y="1143000"/>
            <a:ext cx="2697480" cy="502920"/>
          </a:xfrm>
          <a:prstGeom prst="rect">
            <a:avLst/>
          </a:prstGeom>
          <a:noFill/>
          <a:ln/>
        </p:spPr>
        <p:txBody>
          <a:bodyPr wrap="square" lIns="0" tIns="0" rIns="0" bIns="0" rtlCol="0" anchor="ctr"/>
          <a:lstStyle/>
          <a:p>
            <a:pPr algn="ctr" indent="0" marL="0">
              <a:buNone/>
            </a:pPr>
            <a:r>
              <a:rPr lang="en-US" sz="2800" b="1" dirty="0">
                <a:solidFill>
                  <a:srgbClr val="1DB954"/>
                </a:solidFill>
                <a:latin typeface="Calibri" pitchFamily="34" charset="0"/>
                <a:ea typeface="Calibri" pitchFamily="34" charset="-122"/>
                <a:cs typeface="Calibri" pitchFamily="34" charset="-120"/>
              </a:rPr>
              <a:t>0.03 → 0.42</a:t>
            </a:r>
            <a:endParaRPr lang="en-US" sz="2800" dirty="0"/>
          </a:p>
        </p:txBody>
      </p:sp>
      <p:sp>
        <p:nvSpPr>
          <p:cNvPr id="11" name="Text 9"/>
          <p:cNvSpPr/>
          <p:nvPr/>
        </p:nvSpPr>
        <p:spPr>
          <a:xfrm>
            <a:off x="6035040" y="1627632"/>
            <a:ext cx="2697480" cy="457200"/>
          </a:xfrm>
          <a:prstGeom prst="rect">
            <a:avLst/>
          </a:prstGeom>
          <a:noFill/>
          <a:ln/>
        </p:spPr>
        <p:txBody>
          <a:bodyPr wrap="square" lIns="0" tIns="0" rIns="0" bIns="0" rtlCol="0" anchor="t"/>
          <a:lstStyle/>
          <a:p>
            <a:pPr algn="ctr" indent="0" marL="0">
              <a:buNone/>
            </a:pPr>
            <a:r>
              <a:rPr lang="en-US" sz="1100" dirty="0">
                <a:solidFill>
                  <a:srgbClr val="2A2A2A"/>
                </a:solidFill>
                <a:latin typeface="Calibri" pitchFamily="34" charset="0"/>
                <a:ea typeface="Calibri" pitchFamily="34" charset="-122"/>
                <a:cs typeface="Calibri" pitchFamily="34" charset="-120"/>
              </a:rPr>
              <a:t>Linear-audio baseline</a:t>
            </a:r>
            <a:endParaRPr lang="en-US" sz="1100" dirty="0"/>
          </a:p>
          <a:p>
            <a:pPr algn="ctr" indent="0" marL="0">
              <a:buNone/>
            </a:pPr>
            <a:r>
              <a:rPr lang="en-US" sz="1100" dirty="0">
                <a:solidFill>
                  <a:srgbClr val="2A2A2A"/>
                </a:solidFill>
                <a:latin typeface="Calibri" pitchFamily="34" charset="0"/>
                <a:ea typeface="Calibri" pitchFamily="34" charset="-122"/>
                <a:cs typeface="Calibri" pitchFamily="34" charset="-120"/>
              </a:rPr>
              <a:t>to best ensemble</a:t>
            </a:r>
            <a:endParaRPr lang="en-US" sz="1100" dirty="0"/>
          </a:p>
        </p:txBody>
      </p:sp>
      <p:pic>
        <p:nvPicPr>
          <p:cNvPr id="12" name="Image 0" descr="/home/claude/nb_plots/05_regression_results.png">    </p:cNvPr>
          <p:cNvPicPr>
            <a:picLocks noChangeAspect="1"/>
          </p:cNvPicPr>
          <p:nvPr/>
        </p:nvPicPr>
        <p:blipFill>
          <a:blip r:embed="rId1"/>
          <a:srcRect l="0" r="0" t="0" b="0"/>
          <a:stretch/>
        </p:blipFill>
        <p:spPr>
          <a:xfrm>
            <a:off x="457200" y="2286000"/>
            <a:ext cx="5486400" cy="2011680"/>
          </a:xfrm>
          <a:prstGeom prst="rect">
            <a:avLst/>
          </a:prstGeom>
        </p:spPr>
      </p:pic>
      <p:sp>
        <p:nvSpPr>
          <p:cNvPr id="13" name="Text 10"/>
          <p:cNvSpPr/>
          <p:nvPr/>
        </p:nvSpPr>
        <p:spPr>
          <a:xfrm>
            <a:off x="6126480" y="2286000"/>
            <a:ext cx="2743200" cy="365760"/>
          </a:xfrm>
          <a:prstGeom prst="rect">
            <a:avLst/>
          </a:prstGeom>
          <a:noFill/>
          <a:ln/>
        </p:spPr>
        <p:txBody>
          <a:bodyPr wrap="square" lIns="0" tIns="0" rIns="0" bIns="0" rtlCol="0" anchor="ctr"/>
          <a:lstStyle/>
          <a:p>
            <a:pPr indent="0" marL="0">
              <a:buNone/>
            </a:pPr>
            <a:r>
              <a:rPr lang="en-US" sz="1400" b="1" dirty="0">
                <a:solidFill>
                  <a:srgbClr val="0F4C2A"/>
                </a:solidFill>
                <a:latin typeface="Calibri" pitchFamily="34" charset="0"/>
                <a:ea typeface="Calibri" pitchFamily="34" charset="-122"/>
                <a:cs typeface="Calibri" pitchFamily="34" charset="-120"/>
              </a:rPr>
              <a:t>The story</a:t>
            </a:r>
            <a:endParaRPr lang="en-US" sz="1400" dirty="0"/>
          </a:p>
        </p:txBody>
      </p:sp>
      <p:sp>
        <p:nvSpPr>
          <p:cNvPr id="14" name="Text 11"/>
          <p:cNvSpPr/>
          <p:nvPr/>
        </p:nvSpPr>
        <p:spPr>
          <a:xfrm>
            <a:off x="6126480" y="2651760"/>
            <a:ext cx="2743200" cy="2011680"/>
          </a:xfrm>
          <a:prstGeom prst="rect">
            <a:avLst/>
          </a:prstGeom>
          <a:noFill/>
          <a:ln/>
        </p:spPr>
        <p:txBody>
          <a:bodyPr wrap="square" rtlCol="0" anchor="t"/>
          <a:lstStyle/>
          <a:p>
            <a:pPr marL="342900" indent="-342900">
              <a:spcAft>
                <a:spcPts val="600"/>
              </a:spcAft>
              <a:buSzPct val="100000"/>
              <a:buChar char="•"/>
            </a:pPr>
            <a:r>
              <a:rPr lang="en-US" sz="950" dirty="0">
                <a:solidFill>
                  <a:srgbClr val="2A2A2A"/>
                </a:solidFill>
                <a:latin typeface="Calibri" pitchFamily="34" charset="0"/>
                <a:ea typeface="Calibri" pitchFamily="34" charset="-122"/>
                <a:cs typeface="Calibri" pitchFamily="34" charset="-120"/>
              </a:rPr>
              <a:t>Linear with audio alone: R² = 0.03. Basically useless. The relationship is too non-linear.</a:t>
            </a:r>
            <a:endParaRPr lang="en-US" sz="950" dirty="0"/>
          </a:p>
          <a:p>
            <a:pPr marL="342900" indent="-342900">
              <a:spcAft>
                <a:spcPts val="600"/>
              </a:spcAft>
              <a:buSzPct val="100000"/>
              <a:buChar char="•"/>
            </a:pPr>
            <a:r>
              <a:rPr lang="en-US" sz="950" dirty="0">
                <a:solidFill>
                  <a:srgbClr val="2A2A2A"/>
                </a:solidFill>
                <a:latin typeface="Calibri" pitchFamily="34" charset="0"/>
                <a:ea typeface="Calibri" pitchFamily="34" charset="-122"/>
                <a:cs typeface="Calibri" pitchFamily="34" charset="-120"/>
              </a:rPr>
              <a:t>Random Forest with audio alone: R² = 0.23. Same data, but it finds non-linear patterns linear methods can’t.</a:t>
            </a:r>
            <a:endParaRPr lang="en-US" sz="950" dirty="0"/>
          </a:p>
          <a:p>
            <a:pPr marL="342900" indent="-342900">
              <a:spcAft>
                <a:spcPts val="600"/>
              </a:spcAft>
              <a:buSzPct val="100000"/>
              <a:buChar char="•"/>
            </a:pPr>
            <a:r>
              <a:rPr lang="en-US" sz="950" dirty="0">
                <a:solidFill>
                  <a:srgbClr val="2A2A2A"/>
                </a:solidFill>
                <a:latin typeface="Calibri" pitchFamily="34" charset="0"/>
                <a:ea typeface="Calibri" pitchFamily="34" charset="-122"/>
                <a:cs typeface="Calibri" pitchFamily="34" charset="-120"/>
              </a:rPr>
              <a:t>Adding genre is the biggest single boost. Linear jumps from 0.03 to 0.32 because genre carries the per-genre baseline.</a:t>
            </a:r>
            <a:endParaRPr lang="en-US" sz="950" dirty="0"/>
          </a:p>
          <a:p>
            <a:pPr marL="342900" indent="-342900">
              <a:buSzPct val="100000"/>
              <a:buChar char="•"/>
            </a:pPr>
            <a:r>
              <a:rPr lang="en-US" sz="950" dirty="0">
                <a:solidFill>
                  <a:srgbClr val="2A2A2A"/>
                </a:solidFill>
                <a:latin typeface="Calibri" pitchFamily="34" charset="0"/>
                <a:ea typeface="Calibri" pitchFamily="34" charset="-122"/>
                <a:cs typeface="Calibri" pitchFamily="34" charset="-120"/>
              </a:rPr>
              <a:t>Tuned HGB: R² = 0.42, RMSE = 15.6. Final winner.</a:t>
            </a:r>
            <a:endParaRPr lang="en-US" sz="950" dirty="0"/>
          </a:p>
        </p:txBody>
      </p:sp>
      <p:sp>
        <p:nvSpPr>
          <p:cNvPr id="15" name="Text 12"/>
          <p:cNvSpPr/>
          <p:nvPr/>
        </p:nvSpPr>
        <p:spPr>
          <a:xfrm>
            <a:off x="457200" y="4434840"/>
            <a:ext cx="8229600" cy="50292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Audio alone barely moves linear models. Tree-based ensembles find non-linear signal in the audio. But adding genre is the single biggest boost in this whole project.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91414"/>
                </a:solidFill>
                <a:latin typeface="Calibri" pitchFamily="34" charset="0"/>
                <a:ea typeface="Calibri" pitchFamily="34" charset="-122"/>
                <a:cs typeface="Calibri" pitchFamily="34" charset="-120"/>
              </a:rPr>
              <a:t>Challenges I ran into</a:t>
            </a:r>
            <a:endParaRPr lang="en-US" sz="3200" dirty="0"/>
          </a:p>
        </p:txBody>
      </p:sp>
      <p:sp>
        <p:nvSpPr>
          <p:cNvPr id="3" name="Shape 1"/>
          <p:cNvSpPr/>
          <p:nvPr/>
        </p:nvSpPr>
        <p:spPr>
          <a:xfrm>
            <a:off x="457200" y="1143000"/>
            <a:ext cx="4023360" cy="1645920"/>
          </a:xfrm>
          <a:prstGeom prst="rect">
            <a:avLst/>
          </a:prstGeom>
          <a:solidFill>
            <a:srgbClr val="FFFFFF"/>
          </a:solidFill>
          <a:ln w="12700">
            <a:solidFill>
              <a:srgbClr val="E5E7EB"/>
            </a:solidFill>
            <a:prstDash val="solid"/>
          </a:ln>
        </p:spPr>
      </p:sp>
      <p:sp>
        <p:nvSpPr>
          <p:cNvPr id="4" name="Text 2"/>
          <p:cNvSpPr/>
          <p:nvPr/>
        </p:nvSpPr>
        <p:spPr>
          <a:xfrm>
            <a:off x="548640" y="1188720"/>
            <a:ext cx="594360" cy="594360"/>
          </a:xfrm>
          <a:prstGeom prst="rect">
            <a:avLst/>
          </a:prstGeom>
          <a:noFill/>
          <a:ln/>
        </p:spPr>
        <p:txBody>
          <a:bodyPr wrap="square" lIns="0" tIns="0" rIns="0" bIns="0" rtlCol="0" anchor="ctr"/>
          <a:lstStyle/>
          <a:p>
            <a:pPr algn="ctr" indent="0" marL="0">
              <a:buNone/>
            </a:pPr>
            <a:r>
              <a:rPr lang="en-US" sz="3600" b="1" dirty="0">
                <a:solidFill>
                  <a:srgbClr val="1DB954"/>
                </a:solidFill>
                <a:latin typeface="Calibri" pitchFamily="34" charset="0"/>
                <a:ea typeface="Calibri" pitchFamily="34" charset="-122"/>
                <a:cs typeface="Calibri" pitchFamily="34" charset="-120"/>
              </a:rPr>
              <a:t>1</a:t>
            </a:r>
            <a:endParaRPr lang="en-US" sz="3600" dirty="0"/>
          </a:p>
        </p:txBody>
      </p:sp>
      <p:sp>
        <p:nvSpPr>
          <p:cNvPr id="5" name="Text 3"/>
          <p:cNvSpPr/>
          <p:nvPr/>
        </p:nvSpPr>
        <p:spPr>
          <a:xfrm>
            <a:off x="1234440" y="1234440"/>
            <a:ext cx="3154680" cy="457200"/>
          </a:xfrm>
          <a:prstGeom prst="rect">
            <a:avLst/>
          </a:prstGeom>
          <a:noFill/>
          <a:ln/>
        </p:spPr>
        <p:txBody>
          <a:bodyPr wrap="square" lIns="0" tIns="0" rIns="0" bIns="0" rtlCol="0" anchor="ctr"/>
          <a:lstStyle/>
          <a:p>
            <a:pPr indent="0" marL="0">
              <a:buNone/>
            </a:pPr>
            <a:r>
              <a:rPr lang="en-US" sz="1400" b="1" dirty="0">
                <a:solidFill>
                  <a:srgbClr val="0F4C2A"/>
                </a:solidFill>
                <a:latin typeface="Calibri" pitchFamily="34" charset="0"/>
                <a:ea typeface="Calibri" pitchFamily="34" charset="-122"/>
                <a:cs typeface="Calibri" pitchFamily="34" charset="-120"/>
              </a:rPr>
              <a:t>First dataset was synthetic</a:t>
            </a:r>
            <a:endParaRPr lang="en-US" sz="1400" dirty="0"/>
          </a:p>
        </p:txBody>
      </p:sp>
      <p:sp>
        <p:nvSpPr>
          <p:cNvPr id="6" name="Text 4"/>
          <p:cNvSpPr/>
          <p:nvPr/>
        </p:nvSpPr>
        <p:spPr>
          <a:xfrm>
            <a:off x="594360" y="1783080"/>
            <a:ext cx="3794760" cy="960120"/>
          </a:xfrm>
          <a:prstGeom prst="rect">
            <a:avLst/>
          </a:prstGeom>
          <a:noFill/>
          <a:ln/>
        </p:spPr>
        <p:txBody>
          <a:bodyPr wrap="square" lIns="0" tIns="0" rIns="0" bIns="0" rtlCol="0" anchor="t"/>
          <a:lstStyle/>
          <a:p>
            <a:pPr indent="0" marL="0">
              <a:buNone/>
            </a:pPr>
            <a:r>
              <a:rPr lang="en-US" sz="1000" dirty="0">
                <a:solidFill>
                  <a:srgbClr val="2A2A2A"/>
                </a:solidFill>
                <a:latin typeface="Calibri" pitchFamily="34" charset="0"/>
                <a:ea typeface="Calibri" pitchFamily="34" charset="-122"/>
                <a:cs typeface="Calibri" pitchFamily="34" charset="-120"/>
              </a:rPr>
              <a:t>My first download looked legit but every model was predicting 50 for every song. I checked the data: every audio feature had identical mean and std, all correlations were 0.00. Real Spotify data has energy and loudness correlated at +0.76. Mine was fake. Switched to the real Kaggle file and started over.</a:t>
            </a:r>
            <a:endParaRPr lang="en-US" sz="1000" dirty="0"/>
          </a:p>
        </p:txBody>
      </p:sp>
      <p:sp>
        <p:nvSpPr>
          <p:cNvPr id="7" name="Shape 5"/>
          <p:cNvSpPr/>
          <p:nvPr/>
        </p:nvSpPr>
        <p:spPr>
          <a:xfrm>
            <a:off x="4663440" y="1143000"/>
            <a:ext cx="4023360" cy="1645920"/>
          </a:xfrm>
          <a:prstGeom prst="rect">
            <a:avLst/>
          </a:prstGeom>
          <a:solidFill>
            <a:srgbClr val="FFFFFF"/>
          </a:solidFill>
          <a:ln w="12700">
            <a:solidFill>
              <a:srgbClr val="E5E7EB"/>
            </a:solidFill>
            <a:prstDash val="solid"/>
          </a:ln>
        </p:spPr>
      </p:sp>
      <p:sp>
        <p:nvSpPr>
          <p:cNvPr id="8" name="Text 6"/>
          <p:cNvSpPr/>
          <p:nvPr/>
        </p:nvSpPr>
        <p:spPr>
          <a:xfrm>
            <a:off x="4754880" y="1188720"/>
            <a:ext cx="594360" cy="594360"/>
          </a:xfrm>
          <a:prstGeom prst="rect">
            <a:avLst/>
          </a:prstGeom>
          <a:noFill/>
          <a:ln/>
        </p:spPr>
        <p:txBody>
          <a:bodyPr wrap="square" lIns="0" tIns="0" rIns="0" bIns="0" rtlCol="0" anchor="ctr"/>
          <a:lstStyle/>
          <a:p>
            <a:pPr algn="ctr" indent="0" marL="0">
              <a:buNone/>
            </a:pPr>
            <a:r>
              <a:rPr lang="en-US" sz="3600" b="1" dirty="0">
                <a:solidFill>
                  <a:srgbClr val="1DB954"/>
                </a:solidFill>
                <a:latin typeface="Calibri" pitchFamily="34" charset="0"/>
                <a:ea typeface="Calibri" pitchFamily="34" charset="-122"/>
                <a:cs typeface="Calibri" pitchFamily="34" charset="-120"/>
              </a:rPr>
              <a:t>2</a:t>
            </a:r>
            <a:endParaRPr lang="en-US" sz="3600" dirty="0"/>
          </a:p>
        </p:txBody>
      </p:sp>
      <p:sp>
        <p:nvSpPr>
          <p:cNvPr id="9" name="Text 7"/>
          <p:cNvSpPr/>
          <p:nvPr/>
        </p:nvSpPr>
        <p:spPr>
          <a:xfrm>
            <a:off x="5440680" y="1234440"/>
            <a:ext cx="3154680" cy="457200"/>
          </a:xfrm>
          <a:prstGeom prst="rect">
            <a:avLst/>
          </a:prstGeom>
          <a:noFill/>
          <a:ln/>
        </p:spPr>
        <p:txBody>
          <a:bodyPr wrap="square" lIns="0" tIns="0" rIns="0" bIns="0" rtlCol="0" anchor="ctr"/>
          <a:lstStyle/>
          <a:p>
            <a:pPr indent="0" marL="0">
              <a:buNone/>
            </a:pPr>
            <a:r>
              <a:rPr lang="en-US" sz="1400" b="1" dirty="0">
                <a:solidFill>
                  <a:srgbClr val="0F4C2A"/>
                </a:solidFill>
                <a:latin typeface="Calibri" pitchFamily="34" charset="0"/>
                <a:ea typeface="Calibri" pitchFamily="34" charset="-122"/>
                <a:cs typeface="Calibri" pitchFamily="34" charset="-120"/>
              </a:rPr>
              <a:t>Tree models were slow</a:t>
            </a:r>
            <a:endParaRPr lang="en-US" sz="1400" dirty="0"/>
          </a:p>
        </p:txBody>
      </p:sp>
      <p:sp>
        <p:nvSpPr>
          <p:cNvPr id="10" name="Text 8"/>
          <p:cNvSpPr/>
          <p:nvPr/>
        </p:nvSpPr>
        <p:spPr>
          <a:xfrm>
            <a:off x="4800600" y="1783080"/>
            <a:ext cx="3794760" cy="960120"/>
          </a:xfrm>
          <a:prstGeom prst="rect">
            <a:avLst/>
          </a:prstGeom>
          <a:noFill/>
          <a:ln/>
        </p:spPr>
        <p:txBody>
          <a:bodyPr wrap="square" lIns="0" tIns="0" rIns="0" bIns="0" rtlCol="0" anchor="t"/>
          <a:lstStyle/>
          <a:p>
            <a:pPr indent="0" marL="0">
              <a:buNone/>
            </a:pPr>
            <a:r>
              <a:rPr lang="en-US" sz="1000" dirty="0">
                <a:solidFill>
                  <a:srgbClr val="2A2A2A"/>
                </a:solidFill>
                <a:latin typeface="Calibri" pitchFamily="34" charset="0"/>
                <a:ea typeface="Calibri" pitchFamily="34" charset="-122"/>
                <a:cs typeface="Calibri" pitchFamily="34" charset="-120"/>
              </a:rPr>
              <a:t>Standard GradientBoosting took forever on 89K rows by 130 features. Switched to histogram-based gradient boosting (HGB), which uses binning under the hood. About 10x faster, slightly more accurate too. Same idea, much better implementation.</a:t>
            </a:r>
            <a:endParaRPr lang="en-US" sz="1000" dirty="0"/>
          </a:p>
        </p:txBody>
      </p:sp>
      <p:sp>
        <p:nvSpPr>
          <p:cNvPr id="11" name="Shape 9"/>
          <p:cNvSpPr/>
          <p:nvPr/>
        </p:nvSpPr>
        <p:spPr>
          <a:xfrm>
            <a:off x="457200" y="2926080"/>
            <a:ext cx="4023360" cy="1645920"/>
          </a:xfrm>
          <a:prstGeom prst="rect">
            <a:avLst/>
          </a:prstGeom>
          <a:solidFill>
            <a:srgbClr val="FFFFFF"/>
          </a:solidFill>
          <a:ln w="12700">
            <a:solidFill>
              <a:srgbClr val="E5E7EB"/>
            </a:solidFill>
            <a:prstDash val="solid"/>
          </a:ln>
        </p:spPr>
      </p:sp>
      <p:sp>
        <p:nvSpPr>
          <p:cNvPr id="12" name="Text 10"/>
          <p:cNvSpPr/>
          <p:nvPr/>
        </p:nvSpPr>
        <p:spPr>
          <a:xfrm>
            <a:off x="548640" y="2971800"/>
            <a:ext cx="594360" cy="594360"/>
          </a:xfrm>
          <a:prstGeom prst="rect">
            <a:avLst/>
          </a:prstGeom>
          <a:noFill/>
          <a:ln/>
        </p:spPr>
        <p:txBody>
          <a:bodyPr wrap="square" lIns="0" tIns="0" rIns="0" bIns="0" rtlCol="0" anchor="ctr"/>
          <a:lstStyle/>
          <a:p>
            <a:pPr algn="ctr" indent="0" marL="0">
              <a:buNone/>
            </a:pPr>
            <a:r>
              <a:rPr lang="en-US" sz="3600" b="1" dirty="0">
                <a:solidFill>
                  <a:srgbClr val="1DB954"/>
                </a:solidFill>
                <a:latin typeface="Calibri" pitchFamily="34" charset="0"/>
                <a:ea typeface="Calibri" pitchFamily="34" charset="-122"/>
                <a:cs typeface="Calibri" pitchFamily="34" charset="-120"/>
              </a:rPr>
              <a:t>3</a:t>
            </a:r>
            <a:endParaRPr lang="en-US" sz="3600" dirty="0"/>
          </a:p>
        </p:txBody>
      </p:sp>
      <p:sp>
        <p:nvSpPr>
          <p:cNvPr id="13" name="Text 11"/>
          <p:cNvSpPr/>
          <p:nvPr/>
        </p:nvSpPr>
        <p:spPr>
          <a:xfrm>
            <a:off x="1234440" y="3017520"/>
            <a:ext cx="3154680" cy="457200"/>
          </a:xfrm>
          <a:prstGeom prst="rect">
            <a:avLst/>
          </a:prstGeom>
          <a:noFill/>
          <a:ln/>
        </p:spPr>
        <p:txBody>
          <a:bodyPr wrap="square" lIns="0" tIns="0" rIns="0" bIns="0" rtlCol="0" anchor="ctr"/>
          <a:lstStyle/>
          <a:p>
            <a:pPr indent="0" marL="0">
              <a:buNone/>
            </a:pPr>
            <a:r>
              <a:rPr lang="en-US" sz="1400" b="1" dirty="0">
                <a:solidFill>
                  <a:srgbClr val="0F4C2A"/>
                </a:solidFill>
                <a:latin typeface="Calibri" pitchFamily="34" charset="0"/>
                <a:ea typeface="Calibri" pitchFamily="34" charset="-122"/>
                <a:cs typeface="Calibri" pitchFamily="34" charset="-120"/>
              </a:rPr>
              <a:t>Data leakage risk</a:t>
            </a:r>
            <a:endParaRPr lang="en-US" sz="1400" dirty="0"/>
          </a:p>
        </p:txBody>
      </p:sp>
      <p:sp>
        <p:nvSpPr>
          <p:cNvPr id="14" name="Text 12"/>
          <p:cNvSpPr/>
          <p:nvPr/>
        </p:nvSpPr>
        <p:spPr>
          <a:xfrm>
            <a:off x="594360" y="3566160"/>
            <a:ext cx="3794760" cy="960120"/>
          </a:xfrm>
          <a:prstGeom prst="rect">
            <a:avLst/>
          </a:prstGeom>
          <a:noFill/>
          <a:ln/>
        </p:spPr>
        <p:txBody>
          <a:bodyPr wrap="square" lIns="0" tIns="0" rIns="0" bIns="0" rtlCol="0" anchor="t"/>
          <a:lstStyle/>
          <a:p>
            <a:pPr indent="0" marL="0">
              <a:buNone/>
            </a:pPr>
            <a:r>
              <a:rPr lang="en-US" sz="1000" dirty="0">
                <a:solidFill>
                  <a:srgbClr val="2A2A2A"/>
                </a:solidFill>
                <a:latin typeface="Calibri" pitchFamily="34" charset="0"/>
                <a:ea typeface="Calibri" pitchFamily="34" charset="-122"/>
                <a:cs typeface="Calibri" pitchFamily="34" charset="-120"/>
              </a:rPr>
              <a:t>Same song appears under multiple genres in the raw data, so the same track could end up in both train and test splits. That would inflate my metrics without me realizing it. Had to deduplicate on track_id before the train-test split.</a:t>
            </a:r>
            <a:endParaRPr lang="en-US" sz="1000" dirty="0"/>
          </a:p>
        </p:txBody>
      </p:sp>
      <p:sp>
        <p:nvSpPr>
          <p:cNvPr id="15" name="Shape 13"/>
          <p:cNvSpPr/>
          <p:nvPr/>
        </p:nvSpPr>
        <p:spPr>
          <a:xfrm>
            <a:off x="4663440" y="2926080"/>
            <a:ext cx="4023360" cy="1645920"/>
          </a:xfrm>
          <a:prstGeom prst="rect">
            <a:avLst/>
          </a:prstGeom>
          <a:solidFill>
            <a:srgbClr val="FFFFFF"/>
          </a:solidFill>
          <a:ln w="12700">
            <a:solidFill>
              <a:srgbClr val="E5E7EB"/>
            </a:solidFill>
            <a:prstDash val="solid"/>
          </a:ln>
        </p:spPr>
      </p:sp>
      <p:sp>
        <p:nvSpPr>
          <p:cNvPr id="16" name="Text 14"/>
          <p:cNvSpPr/>
          <p:nvPr/>
        </p:nvSpPr>
        <p:spPr>
          <a:xfrm>
            <a:off x="4754880" y="2971800"/>
            <a:ext cx="594360" cy="594360"/>
          </a:xfrm>
          <a:prstGeom prst="rect">
            <a:avLst/>
          </a:prstGeom>
          <a:noFill/>
          <a:ln/>
        </p:spPr>
        <p:txBody>
          <a:bodyPr wrap="square" lIns="0" tIns="0" rIns="0" bIns="0" rtlCol="0" anchor="ctr"/>
          <a:lstStyle/>
          <a:p>
            <a:pPr algn="ctr" indent="0" marL="0">
              <a:buNone/>
            </a:pPr>
            <a:r>
              <a:rPr lang="en-US" sz="3600" b="1" dirty="0">
                <a:solidFill>
                  <a:srgbClr val="1DB954"/>
                </a:solidFill>
                <a:latin typeface="Calibri" pitchFamily="34" charset="0"/>
                <a:ea typeface="Calibri" pitchFamily="34" charset="-122"/>
                <a:cs typeface="Calibri" pitchFamily="34" charset="-120"/>
              </a:rPr>
              <a:t>4</a:t>
            </a:r>
            <a:endParaRPr lang="en-US" sz="3600" dirty="0"/>
          </a:p>
        </p:txBody>
      </p:sp>
      <p:sp>
        <p:nvSpPr>
          <p:cNvPr id="17" name="Text 15"/>
          <p:cNvSpPr/>
          <p:nvPr/>
        </p:nvSpPr>
        <p:spPr>
          <a:xfrm>
            <a:off x="5440680" y="3017520"/>
            <a:ext cx="3154680" cy="457200"/>
          </a:xfrm>
          <a:prstGeom prst="rect">
            <a:avLst/>
          </a:prstGeom>
          <a:noFill/>
          <a:ln/>
        </p:spPr>
        <p:txBody>
          <a:bodyPr wrap="square" lIns="0" tIns="0" rIns="0" bIns="0" rtlCol="0" anchor="ctr"/>
          <a:lstStyle/>
          <a:p>
            <a:pPr indent="0" marL="0">
              <a:buNone/>
            </a:pPr>
            <a:r>
              <a:rPr lang="en-US" sz="1400" b="1" dirty="0">
                <a:solidFill>
                  <a:srgbClr val="0F4C2A"/>
                </a:solidFill>
                <a:latin typeface="Calibri" pitchFamily="34" charset="0"/>
                <a:ea typeface="Calibri" pitchFamily="34" charset="-122"/>
                <a:cs typeface="Calibri" pitchFamily="34" charset="-120"/>
              </a:rPr>
              <a:t>Heavily skewed target</a:t>
            </a:r>
            <a:endParaRPr lang="en-US" sz="1400" dirty="0"/>
          </a:p>
        </p:txBody>
      </p:sp>
      <p:sp>
        <p:nvSpPr>
          <p:cNvPr id="18" name="Text 16"/>
          <p:cNvSpPr/>
          <p:nvPr/>
        </p:nvSpPr>
        <p:spPr>
          <a:xfrm>
            <a:off x="4800600" y="3566160"/>
            <a:ext cx="3794760" cy="960120"/>
          </a:xfrm>
          <a:prstGeom prst="rect">
            <a:avLst/>
          </a:prstGeom>
          <a:noFill/>
          <a:ln/>
        </p:spPr>
        <p:txBody>
          <a:bodyPr wrap="square" lIns="0" tIns="0" rIns="0" bIns="0" rtlCol="0" anchor="t"/>
          <a:lstStyle/>
          <a:p>
            <a:pPr indent="0" marL="0">
              <a:buNone/>
            </a:pPr>
            <a:r>
              <a:rPr lang="en-US" sz="1000" dirty="0">
                <a:solidFill>
                  <a:srgbClr val="2A2A2A"/>
                </a:solidFill>
                <a:latin typeface="Calibri" pitchFamily="34" charset="0"/>
                <a:ea typeface="Calibri" pitchFamily="34" charset="-122"/>
                <a:cs typeface="Calibri" pitchFamily="34" charset="-120"/>
              </a:rPr>
              <a:t>14% of tracks have popularity = 0 (catalog tracks nobody streams). Considered dropping them but decided to keep them since they’re real data. RMSE takes a hit but the model is honest about what it can actually do on the real catalog.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91414"/>
                </a:solidFill>
                <a:latin typeface="Calibri" pitchFamily="34" charset="0"/>
                <a:ea typeface="Calibri" pitchFamily="34" charset="-122"/>
                <a:cs typeface="Calibri" pitchFamily="34" charset="-120"/>
              </a:rPr>
              <a:t>What I’d add next</a:t>
            </a:r>
            <a:endParaRPr lang="en-US" sz="3200" dirty="0"/>
          </a:p>
        </p:txBody>
      </p:sp>
      <p:sp>
        <p:nvSpPr>
          <p:cNvPr id="3" name="Text 1"/>
          <p:cNvSpPr/>
          <p:nvPr/>
        </p:nvSpPr>
        <p:spPr>
          <a:xfrm>
            <a:off x="457200" y="1097280"/>
            <a:ext cx="5486400" cy="3749040"/>
          </a:xfrm>
          <a:prstGeom prst="rect">
            <a:avLst/>
          </a:prstGeom>
          <a:noFill/>
          <a:ln/>
        </p:spPr>
        <p:txBody>
          <a:bodyPr wrap="square" rtlCol="0" anchor="t"/>
          <a:lstStyle/>
          <a:p>
            <a:pPr indent="0" marL="0">
              <a:spcAft>
                <a:spcPts val="400"/>
              </a:spcAft>
              <a:buNone/>
            </a:pPr>
            <a:r>
              <a:rPr lang="en-US" sz="1050" b="1" dirty="0">
                <a:solidFill>
                  <a:srgbClr val="0F4C2A"/>
                </a:solidFill>
                <a:latin typeface="Calibri" pitchFamily="34" charset="0"/>
                <a:ea typeface="Calibri" pitchFamily="34" charset="-122"/>
                <a:cs typeface="Calibri" pitchFamily="34" charset="-120"/>
              </a:rPr>
              <a:t>Artist features</a:t>
            </a:r>
            <a:endParaRPr lang="en-US" sz="1050" dirty="0"/>
          </a:p>
          <a:p>
            <a:pPr indent="0" marL="0">
              <a:spcAft>
                <a:spcPts val="600"/>
              </a:spcAft>
              <a:buNone/>
            </a:pPr>
            <a:r>
              <a:rPr lang="en-US" sz="1050" dirty="0">
                <a:solidFill>
                  <a:srgbClr val="2A2A2A"/>
                </a:solidFill>
                <a:latin typeface="Calibri" pitchFamily="34" charset="0"/>
                <a:ea typeface="Calibri" pitchFamily="34" charset="-122"/>
                <a:cs typeface="Calibri" pitchFamily="34" charset="-120"/>
              </a:rPr>
              <a:t>Probably the single biggest gain. An artist’s mean popularity and total track count both proxy for their existing fan base. Right now my model has no idea Drake songs do better than mine before either is even released. That’s a huge missing signal.</a:t>
            </a:r>
            <a:endParaRPr lang="en-US" sz="1050" dirty="0"/>
          </a:p>
          <a:p>
            <a:pPr indent="0" marL="0">
              <a:spcAft>
                <a:spcPts val="400"/>
              </a:spcAft>
              <a:buNone/>
            </a:pPr>
            <a:r>
              <a:rPr lang="en-US" sz="1050" b="1" dirty="0">
                <a:solidFill>
                  <a:srgbClr val="0F4C2A"/>
                </a:solidFill>
                <a:latin typeface="Calibri" pitchFamily="34" charset="0"/>
                <a:ea typeface="Calibri" pitchFamily="34" charset="-122"/>
                <a:cs typeface="Calibri" pitchFamily="34" charset="-120"/>
              </a:rPr>
              <a:t>Temporal features</a:t>
            </a:r>
            <a:endParaRPr lang="en-US" sz="1050" dirty="0"/>
          </a:p>
          <a:p>
            <a:pPr indent="0" marL="0">
              <a:spcAft>
                <a:spcPts val="600"/>
              </a:spcAft>
              <a:buNone/>
            </a:pPr>
            <a:r>
              <a:rPr lang="en-US" sz="1050" dirty="0">
                <a:solidFill>
                  <a:srgbClr val="2A2A2A"/>
                </a:solidFill>
                <a:latin typeface="Calibri" pitchFamily="34" charset="0"/>
                <a:ea typeface="Calibri" pitchFamily="34" charset="-122"/>
                <a:cs typeface="Calibri" pitchFamily="34" charset="-120"/>
              </a:rPr>
              <a:t>Days since release, weekday vs weekend release, holiday windows. Older songs naturally lose popularity over time and the model is currently completely blind to that.</a:t>
            </a:r>
            <a:endParaRPr lang="en-US" sz="1050" dirty="0"/>
          </a:p>
          <a:p>
            <a:pPr indent="0" marL="0">
              <a:spcAft>
                <a:spcPts val="400"/>
              </a:spcAft>
              <a:buNone/>
            </a:pPr>
            <a:r>
              <a:rPr lang="en-US" sz="1050" b="1" dirty="0">
                <a:solidFill>
                  <a:srgbClr val="0F4C2A"/>
                </a:solidFill>
                <a:latin typeface="Calibri" pitchFamily="34" charset="0"/>
                <a:ea typeface="Calibri" pitchFamily="34" charset="-122"/>
                <a:cs typeface="Calibri" pitchFamily="34" charset="-120"/>
              </a:rPr>
              <a:t>Lyrics-based NLP</a:t>
            </a:r>
            <a:endParaRPr lang="en-US" sz="1050" dirty="0"/>
          </a:p>
          <a:p>
            <a:pPr indent="0" marL="0">
              <a:spcAft>
                <a:spcPts val="600"/>
              </a:spcAft>
              <a:buNone/>
            </a:pPr>
            <a:r>
              <a:rPr lang="en-US" sz="1050" dirty="0">
                <a:solidFill>
                  <a:srgbClr val="2A2A2A"/>
                </a:solidFill>
                <a:latin typeface="Calibri" pitchFamily="34" charset="0"/>
                <a:ea typeface="Calibri" pitchFamily="34" charset="-122"/>
                <a:cs typeface="Calibri" pitchFamily="34" charset="-120"/>
              </a:rPr>
              <a:t>Sentiment, themes, language, repetition. Audio captures sound but not what the song is actually about. Two songs with identical audio profiles can have totally different lyrical content.</a:t>
            </a:r>
            <a:endParaRPr lang="en-US" sz="1050" dirty="0"/>
          </a:p>
          <a:p>
            <a:pPr indent="0" marL="0">
              <a:spcAft>
                <a:spcPts val="400"/>
              </a:spcAft>
              <a:buNone/>
            </a:pPr>
            <a:r>
              <a:rPr lang="en-US" sz="1050" b="1" dirty="0">
                <a:solidFill>
                  <a:srgbClr val="0F4C2A"/>
                </a:solidFill>
                <a:latin typeface="Calibri" pitchFamily="34" charset="0"/>
                <a:ea typeface="Calibri" pitchFamily="34" charset="-122"/>
                <a:cs typeface="Calibri" pitchFamily="34" charset="-120"/>
              </a:rPr>
              <a:t>Better evaluation</a:t>
            </a:r>
            <a:endParaRPr lang="en-US" sz="1050" dirty="0"/>
          </a:p>
          <a:p>
            <a:pPr indent="0" marL="0">
              <a:spcAft>
                <a:spcPts val="400"/>
              </a:spcAft>
              <a:buNone/>
            </a:pPr>
            <a:r>
              <a:rPr lang="en-US" sz="1050" dirty="0">
                <a:solidFill>
                  <a:srgbClr val="2A2A2A"/>
                </a:solidFill>
                <a:latin typeface="Calibri" pitchFamily="34" charset="0"/>
                <a:ea typeface="Calibri" pitchFamily="34" charset="-122"/>
                <a:cs typeface="Calibri" pitchFamily="34" charset="-120"/>
              </a:rPr>
              <a:t>Temporal holdout: train on pre-2023 songs, test on 2024 songs. The random split I used probably overstates how well the model generalizes to genuinely new releases.</a:t>
            </a:r>
            <a:endParaRPr lang="en-US" sz="1050" dirty="0"/>
          </a:p>
        </p:txBody>
      </p:sp>
      <p:sp>
        <p:nvSpPr>
          <p:cNvPr id="4" name="Shape 2"/>
          <p:cNvSpPr/>
          <p:nvPr/>
        </p:nvSpPr>
        <p:spPr>
          <a:xfrm>
            <a:off x="6217920" y="1371600"/>
            <a:ext cx="2606040" cy="3017520"/>
          </a:xfrm>
          <a:prstGeom prst="rect">
            <a:avLst/>
          </a:prstGeom>
          <a:solidFill>
            <a:srgbClr val="191414"/>
          </a:solidFill>
          <a:ln w="12700">
            <a:solidFill>
              <a:srgbClr val="191414"/>
            </a:solidFill>
            <a:prstDash val="solid"/>
          </a:ln>
        </p:spPr>
      </p:sp>
      <p:sp>
        <p:nvSpPr>
          <p:cNvPr id="5" name="Text 3"/>
          <p:cNvSpPr/>
          <p:nvPr/>
        </p:nvSpPr>
        <p:spPr>
          <a:xfrm>
            <a:off x="6355080" y="1508760"/>
            <a:ext cx="2331720" cy="365760"/>
          </a:xfrm>
          <a:prstGeom prst="rect">
            <a:avLst/>
          </a:prstGeom>
          <a:noFill/>
          <a:ln/>
        </p:spPr>
        <p:txBody>
          <a:bodyPr wrap="square" lIns="0" tIns="0" rIns="0" bIns="0" rtlCol="0" anchor="ctr"/>
          <a:lstStyle/>
          <a:p>
            <a:pPr indent="0" marL="0">
              <a:buNone/>
            </a:pPr>
            <a:r>
              <a:rPr lang="en-US" sz="1300" b="1" dirty="0">
                <a:solidFill>
                  <a:srgbClr val="1DB954"/>
                </a:solidFill>
                <a:latin typeface="Calibri" pitchFamily="34" charset="0"/>
                <a:ea typeface="Calibri" pitchFamily="34" charset="-122"/>
                <a:cs typeface="Calibri" pitchFamily="34" charset="-120"/>
              </a:rPr>
              <a:t>What I learned</a:t>
            </a:r>
            <a:endParaRPr lang="en-US" sz="1300" dirty="0"/>
          </a:p>
        </p:txBody>
      </p:sp>
      <p:sp>
        <p:nvSpPr>
          <p:cNvPr id="6" name="Shape 4"/>
          <p:cNvSpPr/>
          <p:nvPr/>
        </p:nvSpPr>
        <p:spPr>
          <a:xfrm>
            <a:off x="6355080" y="1920240"/>
            <a:ext cx="548640" cy="0"/>
          </a:xfrm>
          <a:prstGeom prst="line">
            <a:avLst/>
          </a:prstGeom>
          <a:noFill/>
          <a:ln w="25400">
            <a:solidFill>
              <a:srgbClr val="1DB954"/>
            </a:solidFill>
            <a:prstDash val="solid"/>
          </a:ln>
        </p:spPr>
      </p:sp>
      <p:sp>
        <p:nvSpPr>
          <p:cNvPr id="7" name="Text 5"/>
          <p:cNvSpPr/>
          <p:nvPr/>
        </p:nvSpPr>
        <p:spPr>
          <a:xfrm>
            <a:off x="6355080" y="2057400"/>
            <a:ext cx="2331720" cy="8229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Audio features have a real ceiling on this problem.</a:t>
            </a:r>
            <a:endParaRPr lang="en-US" sz="1300" dirty="0"/>
          </a:p>
        </p:txBody>
      </p:sp>
      <p:sp>
        <p:nvSpPr>
          <p:cNvPr id="8" name="Text 6"/>
          <p:cNvSpPr/>
          <p:nvPr/>
        </p:nvSpPr>
        <p:spPr>
          <a:xfrm>
            <a:off x="6355080" y="2926080"/>
            <a:ext cx="2331720" cy="1371600"/>
          </a:xfrm>
          <a:prstGeom prst="rect">
            <a:avLst/>
          </a:prstGeom>
          <a:noFill/>
          <a:ln/>
        </p:spPr>
        <p:txBody>
          <a:bodyPr wrap="square" lIns="0" tIns="0" rIns="0" bIns="0" rtlCol="0" anchor="t"/>
          <a:lstStyle/>
          <a:p>
            <a:pPr indent="0" marL="0">
              <a:buNone/>
            </a:pPr>
            <a:r>
              <a:rPr lang="en-US" sz="1100" dirty="0">
                <a:solidFill>
                  <a:srgbClr val="CCCCCC"/>
                </a:solidFill>
                <a:latin typeface="Calibri" pitchFamily="34" charset="0"/>
                <a:ea typeface="Calibri" pitchFamily="34" charset="-122"/>
                <a:cs typeface="Calibri" pitchFamily="34" charset="-120"/>
              </a:rPr>
              <a:t>The next big jump comes from non-audio features: who is releasing the song, when they release it, and what their fan base looks like.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91414"/>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DB954"/>
          </a:solidFill>
          <a:ln w="12700">
            <a:solidFill>
              <a:srgbClr val="1DB954"/>
            </a:solidFill>
            <a:prstDash val="solid"/>
          </a:ln>
        </p:spPr>
      </p:sp>
      <p:sp>
        <p:nvSpPr>
          <p:cNvPr id="3" name="Text 1"/>
          <p:cNvSpPr/>
          <p:nvPr/>
        </p:nvSpPr>
        <p:spPr>
          <a:xfrm>
            <a:off x="640080" y="411480"/>
            <a:ext cx="786384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What this comes down to</a:t>
            </a:r>
            <a:endParaRPr lang="en-US" sz="3200" dirty="0"/>
          </a:p>
        </p:txBody>
      </p:sp>
      <p:sp>
        <p:nvSpPr>
          <p:cNvPr id="4" name="Text 2"/>
          <p:cNvSpPr/>
          <p:nvPr/>
        </p:nvSpPr>
        <p:spPr>
          <a:xfrm>
            <a:off x="640080" y="1371600"/>
            <a:ext cx="2606040" cy="822960"/>
          </a:xfrm>
          <a:prstGeom prst="rect">
            <a:avLst/>
          </a:prstGeom>
          <a:noFill/>
          <a:ln/>
        </p:spPr>
        <p:txBody>
          <a:bodyPr wrap="square" lIns="0" tIns="0" rIns="0" bIns="0" rtlCol="0" anchor="ctr"/>
          <a:lstStyle/>
          <a:p>
            <a:pPr algn="ctr" indent="0" marL="0">
              <a:buNone/>
            </a:pPr>
            <a:r>
              <a:rPr lang="en-US" sz="4800" b="1" dirty="0">
                <a:solidFill>
                  <a:srgbClr val="1DB954"/>
                </a:solidFill>
                <a:latin typeface="Calibri" pitchFamily="34" charset="0"/>
                <a:ea typeface="Calibri" pitchFamily="34" charset="-122"/>
                <a:cs typeface="Calibri" pitchFamily="34" charset="-120"/>
              </a:rPr>
              <a:t>23%</a:t>
            </a:r>
            <a:endParaRPr lang="en-US" sz="4800" dirty="0"/>
          </a:p>
        </p:txBody>
      </p:sp>
      <p:sp>
        <p:nvSpPr>
          <p:cNvPr id="5" name="Text 3"/>
          <p:cNvSpPr/>
          <p:nvPr/>
        </p:nvSpPr>
        <p:spPr>
          <a:xfrm>
            <a:off x="640080" y="2240280"/>
            <a:ext cx="2606040" cy="594360"/>
          </a:xfrm>
          <a:prstGeom prst="rect">
            <a:avLst/>
          </a:prstGeom>
          <a:noFill/>
          <a:ln/>
        </p:spPr>
        <p:txBody>
          <a:bodyPr wrap="square" lIns="0" tIns="0" rIns="0" bIns="0" rtlCol="0" anchor="t"/>
          <a:lstStyle/>
          <a:p>
            <a:pPr algn="ctr" indent="0" marL="0">
              <a:buNone/>
            </a:pPr>
            <a:r>
              <a:rPr lang="en-US" sz="1200" dirty="0">
                <a:solidFill>
                  <a:srgbClr val="CCCCCC"/>
                </a:solidFill>
                <a:latin typeface="Calibri" pitchFamily="34" charset="0"/>
                <a:ea typeface="Calibri" pitchFamily="34" charset="-122"/>
                <a:cs typeface="Calibri" pitchFamily="34" charset="-120"/>
              </a:rPr>
              <a:t>of variance from</a:t>
            </a:r>
            <a:endParaRPr lang="en-US" sz="1200" dirty="0"/>
          </a:p>
          <a:p>
            <a:pPr algn="ctr" indent="0" marL="0">
              <a:buNone/>
            </a:pPr>
            <a:r>
              <a:rPr lang="en-US" sz="1200" dirty="0">
                <a:solidFill>
                  <a:srgbClr val="CCCCCC"/>
                </a:solidFill>
                <a:latin typeface="Calibri" pitchFamily="34" charset="0"/>
                <a:ea typeface="Calibri" pitchFamily="34" charset="-122"/>
                <a:cs typeface="Calibri" pitchFamily="34" charset="-120"/>
              </a:rPr>
              <a:t>audio features alone</a:t>
            </a:r>
            <a:endParaRPr lang="en-US" sz="1200" dirty="0"/>
          </a:p>
        </p:txBody>
      </p:sp>
      <p:sp>
        <p:nvSpPr>
          <p:cNvPr id="6" name="Text 4"/>
          <p:cNvSpPr/>
          <p:nvPr/>
        </p:nvSpPr>
        <p:spPr>
          <a:xfrm>
            <a:off x="3337560" y="1371600"/>
            <a:ext cx="2606040" cy="822960"/>
          </a:xfrm>
          <a:prstGeom prst="rect">
            <a:avLst/>
          </a:prstGeom>
          <a:noFill/>
          <a:ln/>
        </p:spPr>
        <p:txBody>
          <a:bodyPr wrap="square" lIns="0" tIns="0" rIns="0" bIns="0" rtlCol="0" anchor="ctr"/>
          <a:lstStyle/>
          <a:p>
            <a:pPr algn="ctr" indent="0" marL="0">
              <a:buNone/>
            </a:pPr>
            <a:r>
              <a:rPr lang="en-US" sz="4800" b="1" dirty="0">
                <a:solidFill>
                  <a:srgbClr val="1DB954"/>
                </a:solidFill>
                <a:latin typeface="Calibri" pitchFamily="34" charset="0"/>
                <a:ea typeface="Calibri" pitchFamily="34" charset="-122"/>
                <a:cs typeface="Calibri" pitchFamily="34" charset="-120"/>
              </a:rPr>
              <a:t>42%</a:t>
            </a:r>
            <a:endParaRPr lang="en-US" sz="4800" dirty="0"/>
          </a:p>
        </p:txBody>
      </p:sp>
      <p:sp>
        <p:nvSpPr>
          <p:cNvPr id="7" name="Text 5"/>
          <p:cNvSpPr/>
          <p:nvPr/>
        </p:nvSpPr>
        <p:spPr>
          <a:xfrm>
            <a:off x="3337560" y="2240280"/>
            <a:ext cx="2606040" cy="594360"/>
          </a:xfrm>
          <a:prstGeom prst="rect">
            <a:avLst/>
          </a:prstGeom>
          <a:noFill/>
          <a:ln/>
        </p:spPr>
        <p:txBody>
          <a:bodyPr wrap="square" lIns="0" tIns="0" rIns="0" bIns="0" rtlCol="0" anchor="t"/>
          <a:lstStyle/>
          <a:p>
            <a:pPr algn="ctr" indent="0" marL="0">
              <a:buNone/>
            </a:pPr>
            <a:r>
              <a:rPr lang="en-US" sz="1200" dirty="0">
                <a:solidFill>
                  <a:srgbClr val="CCCCCC"/>
                </a:solidFill>
                <a:latin typeface="Calibri" pitchFamily="34" charset="0"/>
                <a:ea typeface="Calibri" pitchFamily="34" charset="-122"/>
                <a:cs typeface="Calibri" pitchFamily="34" charset="-120"/>
              </a:rPr>
              <a:t>with audio + genre</a:t>
            </a:r>
            <a:endParaRPr lang="en-US" sz="1200" dirty="0"/>
          </a:p>
          <a:p>
            <a:pPr algn="ctr" indent="0" marL="0">
              <a:buNone/>
            </a:pPr>
            <a:r>
              <a:rPr lang="en-US" sz="1200" dirty="0">
                <a:solidFill>
                  <a:srgbClr val="CCCCCC"/>
                </a:solidFill>
                <a:latin typeface="Calibri" pitchFamily="34" charset="0"/>
                <a:ea typeface="Calibri" pitchFamily="34" charset="-122"/>
                <a:cs typeface="Calibri" pitchFamily="34" charset="-120"/>
              </a:rPr>
              <a:t>(tuned HGB, R² = 0.42)</a:t>
            </a:r>
            <a:endParaRPr lang="en-US" sz="1200" dirty="0"/>
          </a:p>
        </p:txBody>
      </p:sp>
      <p:sp>
        <p:nvSpPr>
          <p:cNvPr id="8" name="Text 6"/>
          <p:cNvSpPr/>
          <p:nvPr/>
        </p:nvSpPr>
        <p:spPr>
          <a:xfrm>
            <a:off x="6035040" y="1371600"/>
            <a:ext cx="2606040" cy="822960"/>
          </a:xfrm>
          <a:prstGeom prst="rect">
            <a:avLst/>
          </a:prstGeom>
          <a:noFill/>
          <a:ln/>
        </p:spPr>
        <p:txBody>
          <a:bodyPr wrap="square" lIns="0" tIns="0" rIns="0" bIns="0" rtlCol="0" anchor="ctr"/>
          <a:lstStyle/>
          <a:p>
            <a:pPr algn="ctr" indent="0" marL="0">
              <a:buNone/>
            </a:pPr>
            <a:r>
              <a:rPr lang="en-US" sz="4800" b="1" dirty="0">
                <a:solidFill>
                  <a:srgbClr val="1DB954"/>
                </a:solidFill>
                <a:latin typeface="Calibri" pitchFamily="34" charset="0"/>
                <a:ea typeface="Calibri" pitchFamily="34" charset="-122"/>
                <a:cs typeface="Calibri" pitchFamily="34" charset="-120"/>
              </a:rPr>
              <a:t>70%</a:t>
            </a:r>
            <a:endParaRPr lang="en-US" sz="4800" dirty="0"/>
          </a:p>
        </p:txBody>
      </p:sp>
      <p:sp>
        <p:nvSpPr>
          <p:cNvPr id="9" name="Text 7"/>
          <p:cNvSpPr/>
          <p:nvPr/>
        </p:nvSpPr>
        <p:spPr>
          <a:xfrm>
            <a:off x="6035040" y="2240280"/>
            <a:ext cx="2606040" cy="594360"/>
          </a:xfrm>
          <a:prstGeom prst="rect">
            <a:avLst/>
          </a:prstGeom>
          <a:noFill/>
          <a:ln/>
        </p:spPr>
        <p:txBody>
          <a:bodyPr wrap="square" lIns="0" tIns="0" rIns="0" bIns="0" rtlCol="0" anchor="t"/>
          <a:lstStyle/>
          <a:p>
            <a:pPr algn="ctr" indent="0" marL="0">
              <a:buNone/>
            </a:pPr>
            <a:r>
              <a:rPr lang="en-US" sz="1200" dirty="0">
                <a:solidFill>
                  <a:srgbClr val="CCCCCC"/>
                </a:solidFill>
                <a:latin typeface="Calibri" pitchFamily="34" charset="0"/>
                <a:ea typeface="Calibri" pitchFamily="34" charset="-122"/>
                <a:cs typeface="Calibri" pitchFamily="34" charset="-120"/>
              </a:rPr>
              <a:t>classification accuracy</a:t>
            </a:r>
            <a:endParaRPr lang="en-US" sz="1200" dirty="0"/>
          </a:p>
          <a:p>
            <a:pPr algn="ctr" indent="0" marL="0">
              <a:buNone/>
            </a:pPr>
            <a:r>
              <a:rPr lang="en-US" sz="1200" dirty="0">
                <a:solidFill>
                  <a:srgbClr val="CCCCCC"/>
                </a:solidFill>
                <a:latin typeface="Calibri" pitchFamily="34" charset="0"/>
                <a:ea typeface="Calibri" pitchFamily="34" charset="-122"/>
                <a:cs typeface="Calibri" pitchFamily="34" charset="-120"/>
              </a:rPr>
              <a:t>Low / Medium / High</a:t>
            </a:r>
            <a:endParaRPr lang="en-US" sz="1200" dirty="0"/>
          </a:p>
        </p:txBody>
      </p:sp>
      <p:sp>
        <p:nvSpPr>
          <p:cNvPr id="10" name="Shape 8"/>
          <p:cNvSpPr/>
          <p:nvPr/>
        </p:nvSpPr>
        <p:spPr>
          <a:xfrm>
            <a:off x="4114800" y="3246120"/>
            <a:ext cx="914400" cy="0"/>
          </a:xfrm>
          <a:prstGeom prst="line">
            <a:avLst/>
          </a:prstGeom>
          <a:noFill/>
          <a:ln w="25400">
            <a:solidFill>
              <a:srgbClr val="1DB954"/>
            </a:solidFill>
            <a:prstDash val="solid"/>
          </a:ln>
        </p:spPr>
      </p:sp>
      <p:sp>
        <p:nvSpPr>
          <p:cNvPr id="11" name="Text 9"/>
          <p:cNvSpPr/>
          <p:nvPr/>
        </p:nvSpPr>
        <p:spPr>
          <a:xfrm>
            <a:off x="640080" y="3383280"/>
            <a:ext cx="7863840" cy="457200"/>
          </a:xfrm>
          <a:prstGeom prst="rect">
            <a:avLst/>
          </a:prstGeom>
          <a:noFill/>
          <a:ln/>
        </p:spPr>
        <p:txBody>
          <a:bodyPr wrap="square" lIns="0" tIns="0" rIns="0" bIns="0" rtlCol="0" anchor="ctr"/>
          <a:lstStyle/>
          <a:p>
            <a:pPr algn="ctr" indent="0" marL="0">
              <a:buNone/>
            </a:pPr>
            <a:r>
              <a:rPr lang="en-US" sz="1800" b="1" i="1" dirty="0">
                <a:solidFill>
                  <a:srgbClr val="FFFFFF"/>
                </a:solidFill>
                <a:latin typeface="Calibri" pitchFamily="34" charset="0"/>
                <a:ea typeface="Calibri" pitchFamily="34" charset="-122"/>
                <a:cs typeface="Calibri" pitchFamily="34" charset="-120"/>
              </a:rPr>
              <a:t>Audio features matter, but they’re not the whole story.</a:t>
            </a:r>
            <a:endParaRPr lang="en-US" sz="1800" dirty="0"/>
          </a:p>
        </p:txBody>
      </p:sp>
      <p:sp>
        <p:nvSpPr>
          <p:cNvPr id="12" name="Text 10"/>
          <p:cNvSpPr/>
          <p:nvPr/>
        </p:nvSpPr>
        <p:spPr>
          <a:xfrm>
            <a:off x="640080" y="3886200"/>
            <a:ext cx="7863840" cy="777240"/>
          </a:xfrm>
          <a:prstGeom prst="rect">
            <a:avLst/>
          </a:prstGeom>
          <a:noFill/>
          <a:ln/>
        </p:spPr>
        <p:txBody>
          <a:bodyPr wrap="square" lIns="0" tIns="0" rIns="0" bIns="0" rtlCol="0" anchor="ctr"/>
          <a:lstStyle/>
          <a:p>
            <a:pPr algn="ctr" indent="0" marL="0">
              <a:buNone/>
            </a:pPr>
            <a:r>
              <a:rPr lang="en-US" sz="1200" dirty="0">
                <a:solidFill>
                  <a:srgbClr val="AAAAAA"/>
                </a:solidFill>
                <a:latin typeface="Calibri" pitchFamily="34" charset="0"/>
                <a:ea typeface="Calibri" pitchFamily="34" charset="-122"/>
                <a:cs typeface="Calibri" pitchFamily="34" charset="-120"/>
              </a:rPr>
              <a:t>About 58% of popularity variance comes from things outside this dataset: marketing, virality, artist reputation, playlist placement, cultural moments. The real win wasn’t the R² number - it was learning where ML hits its limits on creative and cultural data.</a:t>
            </a:r>
            <a:endParaRPr lang="en-US" sz="1200" dirty="0"/>
          </a:p>
        </p:txBody>
      </p:sp>
      <p:sp>
        <p:nvSpPr>
          <p:cNvPr id="13" name="Text 11"/>
          <p:cNvSpPr/>
          <p:nvPr/>
        </p:nvSpPr>
        <p:spPr>
          <a:xfrm>
            <a:off x="640080" y="4709160"/>
            <a:ext cx="7863840" cy="365760"/>
          </a:xfrm>
          <a:prstGeom prst="rect">
            <a:avLst/>
          </a:prstGeom>
          <a:noFill/>
          <a:ln/>
        </p:spPr>
        <p:txBody>
          <a:bodyPr wrap="square" lIns="0" tIns="0" rIns="0" bIns="0" rtlCol="0" anchor="ctr"/>
          <a:lstStyle/>
          <a:p>
            <a:pPr algn="ctr" indent="0" marL="0">
              <a:buNone/>
            </a:pPr>
            <a:r>
              <a:rPr lang="en-US" sz="1400" b="1" dirty="0">
                <a:solidFill>
                  <a:srgbClr val="1DB954"/>
                </a:solidFill>
                <a:latin typeface="Calibri" pitchFamily="34" charset="0"/>
                <a:ea typeface="Calibri" pitchFamily="34" charset="-122"/>
                <a:cs typeface="Calibri" pitchFamily="34" charset="-120"/>
              </a:rPr>
              <a:t>Thanks. Happy to take questions.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91414"/>
                </a:solidFill>
                <a:latin typeface="Calibri" pitchFamily="34" charset="0"/>
                <a:ea typeface="Calibri" pitchFamily="34" charset="-122"/>
                <a:cs typeface="Calibri" pitchFamily="34" charset="-120"/>
              </a:rPr>
              <a:t>References</a:t>
            </a:r>
            <a:endParaRPr lang="en-US" sz="3200" dirty="0"/>
          </a:p>
        </p:txBody>
      </p:sp>
      <p:sp>
        <p:nvSpPr>
          <p:cNvPr id="3" name="Text 1"/>
          <p:cNvSpPr/>
          <p:nvPr/>
        </p:nvSpPr>
        <p:spPr>
          <a:xfrm>
            <a:off x="457200" y="1188720"/>
            <a:ext cx="8229600" cy="3657600"/>
          </a:xfrm>
          <a:prstGeom prst="rect">
            <a:avLst/>
          </a:prstGeom>
          <a:noFill/>
          <a:ln/>
        </p:spPr>
        <p:txBody>
          <a:bodyPr wrap="square" rtlCol="0" anchor="t"/>
          <a:lstStyle/>
          <a:p>
            <a:pPr indent="0" marL="0">
              <a:spcAft>
                <a:spcPts val="600"/>
              </a:spcAft>
              <a:buNone/>
            </a:pPr>
            <a:r>
              <a:rPr lang="en-US" sz="1300" dirty="0">
                <a:solidFill>
                  <a:srgbClr val="2A2A2A"/>
                </a:solidFill>
                <a:latin typeface="Calibri" pitchFamily="34" charset="0"/>
                <a:ea typeface="Calibri" pitchFamily="34" charset="-122"/>
                <a:cs typeface="Calibri" pitchFamily="34" charset="-120"/>
              </a:rPr>
              <a:t>[1] maharshipandya. (2022). Spotify Tracks Dataset. Kaggle.</a:t>
            </a:r>
            <a:endParaRPr lang="en-US" sz="1300" dirty="0"/>
          </a:p>
          <a:p>
            <a:pPr indent="0" marL="0">
              <a:spcAft>
                <a:spcPts val="1200"/>
              </a:spcAft>
              <a:buNone/>
            </a:pPr>
            <a:r>
              <a:rPr lang="en-US" sz="1300" i="1" dirty="0">
                <a:solidFill>
                  <a:srgbClr val="6B7280"/>
                </a:solidFill>
                <a:latin typeface="Calibri" pitchFamily="34" charset="0"/>
                <a:ea typeface="Calibri" pitchFamily="34" charset="-122"/>
                <a:cs typeface="Calibri" pitchFamily="34" charset="-120"/>
              </a:rPr>
              <a:t>kaggle.com/datasets/maharshipandya/-spotify-tracks-dataset</a:t>
            </a:r>
            <a:endParaRPr lang="en-US" sz="1300" dirty="0"/>
          </a:p>
          <a:p>
            <a:pPr indent="0" marL="0">
              <a:spcAft>
                <a:spcPts val="400"/>
              </a:spcAft>
              <a:buNone/>
            </a:pPr>
            <a:r>
              <a:rPr lang="en-US" sz="1300" dirty="0">
                <a:solidFill>
                  <a:srgbClr val="2A2A2A"/>
                </a:solidFill>
                <a:latin typeface="Calibri" pitchFamily="34" charset="0"/>
                <a:ea typeface="Calibri" pitchFamily="34" charset="-122"/>
                <a:cs typeface="Calibri" pitchFamily="34" charset="-120"/>
              </a:rPr>
              <a:t>[2] Sulistyaningsih, A., Hardiyanto, S., &amp; Pratama, A. (2023). Predicting song popularity based on Spotify’s audio features: insights from the Indonesian streaming users.</a:t>
            </a:r>
            <a:endParaRPr lang="en-US" sz="1300" dirty="0"/>
          </a:p>
          <a:p>
            <a:pPr indent="0" marL="0">
              <a:spcAft>
                <a:spcPts val="1200"/>
              </a:spcAft>
              <a:buNone/>
            </a:pPr>
            <a:r>
              <a:rPr lang="en-US" sz="1300" i="1" dirty="0">
                <a:solidFill>
                  <a:srgbClr val="6B7280"/>
                </a:solidFill>
                <a:latin typeface="Calibri" pitchFamily="34" charset="0"/>
                <a:ea typeface="Calibri" pitchFamily="34" charset="-122"/>
                <a:cs typeface="Calibri" pitchFamily="34" charset="-120"/>
              </a:rPr>
              <a:t>Journal of Management Analytics.</a:t>
            </a:r>
            <a:endParaRPr lang="en-US" sz="1300" dirty="0"/>
          </a:p>
          <a:p>
            <a:pPr indent="0" marL="0">
              <a:spcAft>
                <a:spcPts val="400"/>
              </a:spcAft>
              <a:buNone/>
            </a:pPr>
            <a:r>
              <a:rPr lang="en-US" sz="1300" dirty="0">
                <a:solidFill>
                  <a:srgbClr val="2A2A2A"/>
                </a:solidFill>
                <a:latin typeface="Calibri" pitchFamily="34" charset="0"/>
                <a:ea typeface="Calibri" pitchFamily="34" charset="-122"/>
                <a:cs typeface="Calibri" pitchFamily="34" charset="-120"/>
              </a:rPr>
              <a:t>[3] Pedregosa, F. et al. (2011). Scikit-learn: Machine Learning in Python.</a:t>
            </a:r>
            <a:endParaRPr lang="en-US" sz="1300" dirty="0"/>
          </a:p>
          <a:p>
            <a:pPr indent="0" marL="0">
              <a:spcAft>
                <a:spcPts val="1200"/>
              </a:spcAft>
              <a:buNone/>
            </a:pPr>
            <a:r>
              <a:rPr lang="en-US" sz="1300" i="1" dirty="0">
                <a:solidFill>
                  <a:srgbClr val="6B7280"/>
                </a:solidFill>
                <a:latin typeface="Calibri" pitchFamily="34" charset="0"/>
                <a:ea typeface="Calibri" pitchFamily="34" charset="-122"/>
                <a:cs typeface="Calibri" pitchFamily="34" charset="-120"/>
              </a:rPr>
              <a:t>Journal of Machine Learning Research, 12, 2825-2830.</a:t>
            </a:r>
            <a:endParaRPr lang="en-US" sz="1300" dirty="0"/>
          </a:p>
          <a:p>
            <a:pPr indent="0" marL="0">
              <a:spcAft>
                <a:spcPts val="400"/>
              </a:spcAft>
              <a:buNone/>
            </a:pPr>
            <a:r>
              <a:rPr lang="en-US" sz="1300" dirty="0">
                <a:solidFill>
                  <a:srgbClr val="2A2A2A"/>
                </a:solidFill>
                <a:latin typeface="Calibri" pitchFamily="34" charset="0"/>
                <a:ea typeface="Calibri" pitchFamily="34" charset="-122"/>
                <a:cs typeface="Calibri" pitchFamily="34" charset="-120"/>
              </a:rPr>
              <a:t>[4] Spotify Engineering blog. How Spotify Uses ML to Power Discover Weekly.</a:t>
            </a:r>
            <a:endParaRPr lang="en-US" sz="1300" dirty="0"/>
          </a:p>
          <a:p>
            <a:pPr indent="0" marL="0">
              <a:buNone/>
            </a:pPr>
            <a:r>
              <a:rPr lang="en-US" sz="1300" i="1" dirty="0">
                <a:solidFill>
                  <a:srgbClr val="6B7280"/>
                </a:solidFill>
                <a:latin typeface="Calibri" pitchFamily="34" charset="0"/>
                <a:ea typeface="Calibri" pitchFamily="34" charset="-122"/>
                <a:cs typeface="Calibri" pitchFamily="34" charset="-120"/>
              </a:rPr>
              <a:t>engineering.atspotify.com</a:t>
            </a:r>
            <a:endParaRPr lang="en-US" sz="1300" dirty="0"/>
          </a:p>
        </p:txBody>
      </p:sp>
      <p:sp>
        <p:nvSpPr>
          <p:cNvPr id="4" name="Text 2"/>
          <p:cNvSpPr/>
          <p:nvPr/>
        </p:nvSpPr>
        <p:spPr>
          <a:xfrm>
            <a:off x="457200" y="4663440"/>
            <a:ext cx="8229600" cy="36576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All plots generated by my own code in the project notebook.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Song Popularity Using Spotify Audio Features</dc:title>
  <dc:subject>PptxGenJS Presentation</dc:subject>
  <dc:creator>Trilok</dc:creator>
  <cp:lastModifiedBy>Trilok</cp:lastModifiedBy>
  <cp:revision>1</cp:revision>
  <dcterms:created xsi:type="dcterms:W3CDTF">2026-05-05T21:01:00Z</dcterms:created>
  <dcterms:modified xsi:type="dcterms:W3CDTF">2026-05-05T21:01:00Z</dcterms:modified>
</cp:coreProperties>
</file>